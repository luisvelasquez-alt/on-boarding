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88" r:id="rId5"/>
    <p:sldId id="282" r:id="rId6"/>
    <p:sldId id="259" r:id="rId7"/>
    <p:sldId id="284" r:id="rId8"/>
    <p:sldId id="275" r:id="rId9"/>
    <p:sldId id="287" r:id="rId10"/>
    <p:sldId id="281" r:id="rId11"/>
    <p:sldId id="276" r:id="rId12"/>
    <p:sldId id="283" r:id="rId13"/>
    <p:sldId id="289" r:id="rId14"/>
    <p:sldId id="290" r:id="rId15"/>
    <p:sldId id="278" r:id="rId16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 autoAdjust="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92" d="100"/>
          <a:sy n="92" d="100"/>
        </p:scale>
        <p:origin x="3732" y="3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CE7C3759-1457-46FB-8F72-9FC969C2E29E}" type="datetime1">
              <a:rPr lang="es-ES" smtClean="0"/>
              <a:t>21/06/2024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F757874-EF65-4B61-B062-40C932C8129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0T17:52:14.7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0T17:52:29.7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0T17:52:52.8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0T17:52:59.9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0T17:53:04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0T17:53:24.5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7D9B200B-A8D1-468B-9DFE-62D3FE64DF4B}" type="datetime1">
              <a:rPr lang="es-ES" smtClean="0"/>
              <a:t>21/06/2024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6937E2AA-278D-0B48-A5DE-00B1FC5BDAF9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665593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937E2AA-278D-0B48-A5DE-00B1FC5BDAF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8186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937E2AA-278D-0B48-A5DE-00B1FC5BDAF9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1031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937E2AA-278D-0B48-A5DE-00B1FC5BDAF9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72272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937E2AA-278D-0B48-A5DE-00B1FC5BDAF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87588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937E2AA-278D-0B48-A5DE-00B1FC5BDAF9}" type="slidenum">
              <a:rPr lang="es-ES" noProof="0" smtClean="0"/>
              <a:t>5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60104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937E2AA-278D-0B48-A5DE-00B1FC5BDAF9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407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937E2AA-278D-0B48-A5DE-00B1FC5BDAF9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89163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937E2AA-278D-0B48-A5DE-00B1FC5BDAF9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2864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937E2AA-278D-0B48-A5DE-00B1FC5BDAF9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6932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937E2AA-278D-0B48-A5DE-00B1FC5BDAF9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37830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posición de imagen 8">
            <a:extLst>
              <a:ext uri="{FF2B5EF4-FFF2-40B4-BE49-F238E27FC236}">
                <a16:creationId xmlns:a16="http://schemas.microsoft.com/office/drawing/2014/main" id="{D56268A4-B555-72BE-6160-318763ECA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2D44DBA-D665-923B-A38C-C68A9C03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rtlCol="0" anchor="ctr" anchorCtr="0">
            <a:noAutofit/>
          </a:bodyPr>
          <a:lstStyle>
            <a:lvl1pPr algn="ctr">
              <a:defRPr lang="es-ES" sz="44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38">
            <a:extLst>
              <a:ext uri="{FF2B5EF4-FFF2-40B4-BE49-F238E27FC236}">
                <a16:creationId xmlns:a16="http://schemas.microsoft.com/office/drawing/2014/main" id="{31550E6E-10D6-E75A-F6B1-8800DAC2C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3038" y="1457865"/>
            <a:ext cx="3200400" cy="4580626"/>
          </a:xfrm>
        </p:spPr>
        <p:txBody>
          <a:bodyPr rtlCol="0" anchor="t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6287" y="1457864"/>
            <a:ext cx="4986068" cy="4580627"/>
          </a:xfrm>
        </p:spPr>
        <p:txBody>
          <a:bodyPr tIns="45720" rtlCol="0"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  <a:defRPr lang="es-ES" sz="2400"/>
            </a:lvl1pPr>
            <a:lvl2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2000"/>
            </a:lvl2pPr>
            <a:lvl3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1800"/>
            </a:lvl3pPr>
            <a:lvl4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1600"/>
            </a:lvl4pPr>
            <a:lvl5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1600"/>
            </a:lvl5pPr>
          </a:lstStyle>
          <a:p>
            <a:pPr lvl="0" rtl="0"/>
            <a:r>
              <a:rPr lang="es-ES" noProof="0" dirty="0"/>
              <a:t>Haga clic para agregar contenido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DE524E6-256B-444F-889B-C4E16C230803}" type="datetime1">
              <a:rPr lang="es-ES" noProof="0" smtClean="0"/>
              <a:t>21/06/2024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8">
            <a:extLst>
              <a:ext uri="{FF2B5EF4-FFF2-40B4-BE49-F238E27FC236}">
                <a16:creationId xmlns:a16="http://schemas.microsoft.com/office/drawing/2014/main" id="{61F88592-24FD-96EC-ADB3-C0B7682DF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8259" y="798653"/>
            <a:ext cx="5166167" cy="5289630"/>
          </a:xfrm>
          <a:solidFill>
            <a:schemeClr val="bg1">
              <a:alpha val="95000"/>
            </a:schemeClr>
          </a:solidFill>
        </p:spPr>
        <p:txBody>
          <a:bodyPr lIns="274320" rIns="274320" rtlCol="0" anchor="ctr">
            <a:noAutofit/>
          </a:bodyPr>
          <a:lstStyle>
            <a:lvl1pPr algn="ctr">
              <a:defRPr lang="es-ES" sz="44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4424" y="787077"/>
            <a:ext cx="5166167" cy="5289631"/>
          </a:xfrm>
          <a:solidFill>
            <a:schemeClr val="bg1">
              <a:alpha val="95000"/>
            </a:schemeClr>
          </a:solidFill>
        </p:spPr>
        <p:txBody>
          <a:bodyPr rtlCol="0">
            <a:noAutofit/>
          </a:bodyPr>
          <a:lstStyle>
            <a:lvl1pPr marL="342900" indent="-342900" algn="ctr">
              <a:buFont typeface="Arial" panose="020B0604020202020204" pitchFamily="34" charset="0"/>
              <a:buChar char="•"/>
              <a:defRPr lang="es-ES"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C945262-380D-499B-9A2C-B768E51E74AC}" type="datetime1">
              <a:rPr lang="es-ES" noProof="0" smtClean="0"/>
              <a:t>21/06/2024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13">
            <a:extLst>
              <a:ext uri="{FF2B5EF4-FFF2-40B4-BE49-F238E27FC236}">
                <a16:creationId xmlns:a16="http://schemas.microsoft.com/office/drawing/2014/main" id="{BD017017-3234-8C24-B9FC-80FB1120D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C226FA8-C264-7189-EEA0-526400907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6135" y="1124887"/>
            <a:ext cx="4480560" cy="2352356"/>
          </a:xfrm>
        </p:spPr>
        <p:txBody>
          <a:bodyPr rtlCol="0" anchor="b">
            <a:noAutofit/>
          </a:bodyPr>
          <a:lstStyle>
            <a:lvl1pPr algn="l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6135" y="3571197"/>
            <a:ext cx="4476967" cy="2123547"/>
          </a:xfrm>
        </p:spPr>
        <p:txBody>
          <a:bodyPr rtlCol="0">
            <a:noAutofit/>
          </a:bodyPr>
          <a:lstStyle>
            <a:lvl1pPr marL="0" indent="0" algn="l">
              <a:buNone/>
              <a:defRPr lang="es-ES" sz="2800"/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7" name="Marcador de posición de imagen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29545" y="1148037"/>
            <a:ext cx="4365199" cy="4546707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9E7B6F4F-BD40-49AE-8CDB-F85286DCBC25}" type="datetime1">
              <a:rPr lang="es-ES" smtClean="0"/>
              <a:t>21/06/2024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17">
            <a:extLst>
              <a:ext uri="{FF2B5EF4-FFF2-40B4-BE49-F238E27FC236}">
                <a16:creationId xmlns:a16="http://schemas.microsoft.com/office/drawing/2014/main" id="{28B211FD-99D2-B373-669F-6E0F8E5B3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4079EDA-1B98-E3C1-23AD-7FB6F39FE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6598" y="995425"/>
            <a:ext cx="8958805" cy="1077230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76BDAEBE-3A0C-BBCD-A1F0-E1F1E07000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616599" y="2257061"/>
            <a:ext cx="8958804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8012F2-2208-4E0F-BD21-37216A73E577}" type="datetime1">
              <a:rPr lang="es-ES" smtClean="0"/>
              <a:t>21/06/2024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image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5">
            <a:extLst>
              <a:ext uri="{FF2B5EF4-FFF2-40B4-BE49-F238E27FC236}">
                <a16:creationId xmlns:a16="http://schemas.microsoft.com/office/drawing/2014/main" id="{236F3DDC-7FF8-F6A3-16EA-A01E7F795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Título 33">
            <a:extLst>
              <a:ext uri="{FF2B5EF4-FFF2-40B4-BE49-F238E27FC236}">
                <a16:creationId xmlns:a16="http://schemas.microsoft.com/office/drawing/2014/main" id="{E728EBB2-9164-AC06-6682-9505D88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15924" y="777240"/>
            <a:ext cx="6115497" cy="5303520"/>
          </a:xfrm>
          <a:prstGeom prst="rect">
            <a:avLst/>
          </a:prstGeom>
          <a:solidFill>
            <a:schemeClr val="bg1">
              <a:alpha val="95000"/>
            </a:schemeClr>
          </a:solidFill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937" y="879674"/>
            <a:ext cx="5377406" cy="2550005"/>
          </a:xfrm>
        </p:spPr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53BA3AA6-E309-C0C7-B2C6-3705384B7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7638" y="3576900"/>
            <a:ext cx="4126635" cy="2233613"/>
          </a:xfrm>
        </p:spPr>
        <p:txBody>
          <a:bodyPr rtlCol="0"/>
          <a:lstStyle>
            <a:lvl1pPr marL="0" indent="0">
              <a:buNone/>
              <a:defRPr lang="es-ES"/>
            </a:lvl1pPr>
            <a:lvl2pPr marL="457200" indent="0">
              <a:buNone/>
              <a:defRPr lang="es-ES"/>
            </a:lvl2pPr>
            <a:lvl3pPr marL="914400" indent="0">
              <a:buNone/>
              <a:defRPr lang="es-ES"/>
            </a:lvl3pPr>
            <a:lvl4pPr marL="1371600" indent="0">
              <a:buNone/>
              <a:defRPr lang="es-ES"/>
            </a:lvl4pPr>
            <a:lvl5pPr marL="1828800" indent="0">
              <a:buNone/>
              <a:defRPr lang="es-ES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5D619BB-44C9-414B-8224-FAB07D5430B6}" type="datetime1">
              <a:rPr lang="es-ES" smtClean="0"/>
              <a:t>21/06/2024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5">
            <a:extLst>
              <a:ext uri="{FF2B5EF4-FFF2-40B4-BE49-F238E27FC236}">
                <a16:creationId xmlns:a16="http://schemas.microsoft.com/office/drawing/2014/main" id="{540E5FCC-3981-FB51-F0ED-B8BAB5C45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3BCE2C9E-7BC3-0EB6-EBE4-26EE33A1F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57" y="891251"/>
            <a:ext cx="9653286" cy="1158254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0A4004B-EE33-447C-A7D1-B506C4EC528D}" type="datetime1">
              <a:rPr lang="es-ES" smtClean="0"/>
              <a:t>21/06/2024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ECB36301-48E6-AF64-5055-0CCA79474EA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400540" y="2257062"/>
            <a:ext cx="4062711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F973906-E48D-CA3F-3E96-205D2E688DC5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588311" y="2257061"/>
            <a:ext cx="4203151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44">
            <a:extLst>
              <a:ext uri="{FF2B5EF4-FFF2-40B4-BE49-F238E27FC236}">
                <a16:creationId xmlns:a16="http://schemas.microsoft.com/office/drawing/2014/main" id="{07AB38AA-85DC-3DF3-4ED4-B78FB670F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F2DD44F-3200-BF06-94F9-C6A07EA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361" y="777240"/>
            <a:ext cx="10007278" cy="1283843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47029" y="2261313"/>
            <a:ext cx="3275746" cy="36533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5ECCB5A-02F8-4443-8D49-35774A182830}" type="datetime1">
              <a:rPr lang="es-ES" smtClean="0"/>
              <a:t>21/06/2024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C2AA9CA0-D45C-FE27-D4E4-DD219364E4F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150734" y="2261313"/>
            <a:ext cx="5594236" cy="3653350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8">
            <a:extLst>
              <a:ext uri="{FF2B5EF4-FFF2-40B4-BE49-F238E27FC236}">
                <a16:creationId xmlns:a16="http://schemas.microsoft.com/office/drawing/2014/main" id="{F1219773-33FA-E4F9-4EAE-0764613F6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2817C37-9292-1CF3-6529-DEF717427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61275" y="1134320"/>
            <a:ext cx="4803494" cy="1956122"/>
          </a:xfrm>
        </p:spPr>
        <p:txBody>
          <a:bodyPr rtlCol="0" anchor="b">
            <a:noAutofit/>
          </a:bodyPr>
          <a:lstStyle>
            <a:lvl1pPr algn="l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1275" y="3418271"/>
            <a:ext cx="4803494" cy="2305409"/>
          </a:xfrm>
        </p:spPr>
        <p:txBody>
          <a:bodyPr rtlCol="0">
            <a:noAutofit/>
          </a:bodyPr>
          <a:lstStyle>
            <a:lvl1pPr marL="0" indent="0" algn="l">
              <a:spcAft>
                <a:spcPts val="1000"/>
              </a:spcAft>
              <a:buNone/>
              <a:defRPr lang="es-ES" sz="1800"/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E5D7B0DF-23EB-406B-9FAA-0182626A91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8563" y="1146638"/>
            <a:ext cx="4389120" cy="4572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B0A5D68-46DB-4085-AAF2-A56B60A4CCDB}" type="datetime1">
              <a:rPr lang="es-ES" smtClean="0"/>
              <a:t>21/06/2024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64">
            <a:extLst>
              <a:ext uri="{FF2B5EF4-FFF2-40B4-BE49-F238E27FC236}">
                <a16:creationId xmlns:a16="http://schemas.microsoft.com/office/drawing/2014/main" id="{7C62E1FE-8CAE-1FE1-6A91-DFE7F1D87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6219"/>
            <a:ext cx="10389243" cy="1424470"/>
          </a:xfrm>
        </p:spPr>
        <p:txBody>
          <a:bodyPr rtlCol="0" anchor="ctr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779325"/>
            <a:ext cx="3490732" cy="4297680"/>
          </a:xfrm>
        </p:spPr>
        <p:txBody>
          <a:bodyPr tIns="274320" rtlCol="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1pPr>
            <a:lvl2pPr marL="2286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2pPr>
            <a:lvl3pPr marL="6858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3pPr>
            <a:lvl4pPr marL="11430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4pPr>
            <a:lvl5pPr marL="16002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5pPr>
          </a:lstStyle>
          <a:p>
            <a:pPr lvl="0" rtl="0"/>
            <a:r>
              <a:rPr lang="es-ES" noProof="0"/>
              <a:t>Haga clic para agregar contenido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502552" y="1779325"/>
            <a:ext cx="6724891" cy="429768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/>
              <a:t>Haga clic en el icono para agregar una tabla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E44B7D3-4E5F-4D2D-95A7-00CB23AE3693}" type="datetime1">
              <a:rPr lang="es-ES" noProof="0" smtClean="0"/>
              <a:t>21/06/2024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17">
            <a:extLst>
              <a:ext uri="{FF2B5EF4-FFF2-40B4-BE49-F238E27FC236}">
                <a16:creationId xmlns:a16="http://schemas.microsoft.com/office/drawing/2014/main" id="{32B61A96-5F36-8895-B920-FC12FD76D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774BC39-6D56-474E-28BE-99260516A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3070" y="914400"/>
            <a:ext cx="10045861" cy="1146680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23687" y="2288614"/>
            <a:ext cx="5382228" cy="3475578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lang="es-ES" sz="1800"/>
            </a:lvl1pPr>
            <a:lvl2pPr marL="6858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11430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6002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20574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451790" y="2288614"/>
            <a:ext cx="3108960" cy="3475578"/>
          </a:xfrm>
        </p:spPr>
        <p:txBody>
          <a:bodyPr tIns="91440" rtlCol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2pPr>
            <a:lvl3pPr marL="685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74304D8-B3C1-44E8-83A0-18D09C3315E3}" type="datetime1">
              <a:rPr lang="es-ES" smtClean="0"/>
              <a:t>21/06/2024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64">
            <a:extLst>
              <a:ext uri="{FF2B5EF4-FFF2-40B4-BE49-F238E27FC236}">
                <a16:creationId xmlns:a16="http://schemas.microsoft.com/office/drawing/2014/main" id="{55E792AE-CF37-9DD8-2703-49480775F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3629"/>
            <a:ext cx="10515600" cy="1325563"/>
          </a:xfrm>
        </p:spPr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14400" y="1779325"/>
            <a:ext cx="10361676" cy="4297680"/>
          </a:xfrm>
        </p:spPr>
        <p:txBody>
          <a:bodyPr rtlCol="0"/>
          <a:lstStyle>
            <a:lvl1pPr>
              <a:defRPr lang="es-ES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8B877DD-8742-486F-9DF2-6E05DD1B1915}" type="datetime1">
              <a:rPr lang="es-ES" smtClean="0"/>
              <a:t>21/06/2024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13">
            <a:extLst>
              <a:ext uri="{FF2B5EF4-FFF2-40B4-BE49-F238E27FC236}">
                <a16:creationId xmlns:a16="http://schemas.microsoft.com/office/drawing/2014/main" id="{A1BB4149-7987-3EF4-952D-2271B4DD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7B335AD-7A4B-841B-52BC-8FF32D99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99368" y="0"/>
            <a:ext cx="4593265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3375" y="92597"/>
            <a:ext cx="3905250" cy="3032567"/>
          </a:xfrm>
        </p:spPr>
        <p:txBody>
          <a:bodyPr rtlCol="0" anchor="b">
            <a:noAutofit/>
          </a:bodyPr>
          <a:lstStyle>
            <a:lvl1pPr algn="ctr">
              <a:defRPr lang="es-ES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A13E19FD-68BB-0F8D-21CF-9E48B80607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43375" y="4004321"/>
            <a:ext cx="3905250" cy="27432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1800"/>
            </a:lvl1pPr>
            <a:lvl2pPr marL="457200" indent="0" algn="ctr">
              <a:buNone/>
              <a:defRPr lang="es-ES"/>
            </a:lvl2pPr>
            <a:lvl3pPr marL="914400" indent="0" algn="ctr">
              <a:buNone/>
              <a:defRPr lang="es-ES"/>
            </a:lvl3pPr>
            <a:lvl4pPr marL="1371600" indent="0" algn="ctr">
              <a:buNone/>
              <a:defRPr lang="es-ES"/>
            </a:lvl4pPr>
            <a:lvl5pPr marL="1828800" indent="0" algn="ctr">
              <a:buNone/>
              <a:defRPr lang="es-ES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029776CB-D9FC-4A62-98FF-11EE2BA9AC6D}" type="datetime1">
              <a:rPr lang="es-ES" noProof="0" smtClean="0"/>
              <a:t>21/06/2024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CBD12358-51D2-46B3-9BDE-DF29528B9454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9" r:id="rId4"/>
    <p:sldLayoutId id="2147483650" r:id="rId5"/>
    <p:sldLayoutId id="2147483652" r:id="rId6"/>
    <p:sldLayoutId id="2147483662" r:id="rId7"/>
    <p:sldLayoutId id="2147483663" r:id="rId8"/>
    <p:sldLayoutId id="2147483649" r:id="rId9"/>
    <p:sldLayoutId id="2147483666" r:id="rId10"/>
    <p:sldLayoutId id="2147483664" r:id="rId11"/>
    <p:sldLayoutId id="2147483665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customXml" Target="../ink/ink1.xml"/><Relationship Id="rId7" Type="http://schemas.openxmlformats.org/officeDocument/2006/relationships/customXml" Target="../ink/ink4.xm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10" Type="http://schemas.openxmlformats.org/officeDocument/2006/relationships/image" Target="../media/image23.jpg"/><Relationship Id="rId4" Type="http://schemas.openxmlformats.org/officeDocument/2006/relationships/image" Target="../media/image23.png"/><Relationship Id="rId9" Type="http://schemas.openxmlformats.org/officeDocument/2006/relationships/customXml" Target="../ink/ink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  <a:noFill/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MANUAL DE DYNAMICS</a:t>
            </a:r>
          </a:p>
        </p:txBody>
      </p:sp>
      <p:pic>
        <p:nvPicPr>
          <p:cNvPr id="1026" name="Picture 2" descr="LC Waikiki Logo PNG vector in SVG, PDF, AI, CDR format">
            <a:extLst>
              <a:ext uri="{FF2B5EF4-FFF2-40B4-BE49-F238E27FC236}">
                <a16:creationId xmlns:a16="http://schemas.microsoft.com/office/drawing/2014/main" id="{4A9CEA6F-1BC5-DBF7-9E50-67A84561D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899" y="4929027"/>
            <a:ext cx="2186255" cy="1132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302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357" y="891251"/>
            <a:ext cx="9653286" cy="1158254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DYNAMICS</a:t>
            </a:r>
          </a:p>
        </p:txBody>
      </p:sp>
      <p:pic>
        <p:nvPicPr>
          <p:cNvPr id="4" name="Picture 2" descr="LC Waikiki Logo PNG vector in SVG, PDF, AI, CDR format">
            <a:extLst>
              <a:ext uri="{FF2B5EF4-FFF2-40B4-BE49-F238E27FC236}">
                <a16:creationId xmlns:a16="http://schemas.microsoft.com/office/drawing/2014/main" id="{14C5C244-F876-8EEA-57A4-96483149D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0286" y="2257062"/>
            <a:ext cx="3763218" cy="3541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588311" y="2257061"/>
            <a:ext cx="4203151" cy="3541853"/>
          </a:xfr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En LC Waikiki la marca  maneja un sistema propio para solicitar suministros.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dirty="0"/>
              <a:t>Es importante destacar que cada tienda es responsable de este proceso y se debe realiza estrictamente bajo aprobación de VP  de Operaciones y Brand Manager.</a:t>
            </a:r>
          </a:p>
          <a:p>
            <a:pPr rtl="0"/>
            <a:r>
              <a:rPr lang="es-ES" b="1" dirty="0"/>
              <a:t>Paso 1.</a:t>
            </a:r>
          </a:p>
          <a:p>
            <a:pPr rtl="0"/>
            <a:r>
              <a:rPr lang="es-ES" dirty="0"/>
              <a:t>Ingresar al link:</a:t>
            </a:r>
          </a:p>
          <a:p>
            <a:pPr rtl="0"/>
            <a:r>
              <a:rPr lang="es-ES" u="sng" dirty="0">
                <a:highlight>
                  <a:srgbClr val="00FFFF"/>
                </a:highlight>
              </a:rPr>
              <a:t>https://d365hqprd.operations.dynamics.com/?cmp=TRLC&amp;mi=DefaultDashboard</a:t>
            </a:r>
          </a:p>
        </p:txBody>
      </p:sp>
    </p:spTree>
    <p:extLst>
      <p:ext uri="{BB962C8B-B14F-4D97-AF65-F5344CB8AC3E}">
        <p14:creationId xmlns:p14="http://schemas.microsoft.com/office/powerpoint/2010/main" val="1667462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6135" y="1124887"/>
            <a:ext cx="4480560" cy="2352356"/>
          </a:xfrm>
          <a:noFill/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Paso 2.</a:t>
            </a:r>
          </a:p>
        </p:txBody>
      </p:sp>
      <p:sp>
        <p:nvSpPr>
          <p:cNvPr id="11" name="Subtítulo 10">
            <a:extLst>
              <a:ext uri="{FF2B5EF4-FFF2-40B4-BE49-F238E27FC236}">
                <a16:creationId xmlns:a16="http://schemas.microsoft.com/office/drawing/2014/main" id="{F4583933-95EE-13B0-55ED-7B10E3D38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6135" y="3571197"/>
            <a:ext cx="4235231" cy="2123547"/>
          </a:xfrm>
        </p:spPr>
        <p:txBody>
          <a:bodyPr rtlCol="0"/>
          <a:lstStyle>
            <a:defPPr>
              <a:defRPr lang="es-ES"/>
            </a:defPPr>
          </a:lstStyle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es-ES" sz="2000" dirty="0"/>
              <a:t>Colocamos el usuario para iniciar sección. Cada tienda tiene un usuario y contraseña, que los identifica. </a:t>
            </a:r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7B381A3F-CE4D-B942-8DC1-34058C980C5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5333" r="30448" b="15458"/>
          <a:stretch/>
        </p:blipFill>
        <p:spPr>
          <a:xfrm>
            <a:off x="1318437" y="1201479"/>
            <a:ext cx="4235231" cy="4088358"/>
          </a:xfrm>
        </p:spPr>
      </p:pic>
      <p:pic>
        <p:nvPicPr>
          <p:cNvPr id="7" name="Picture 2" descr="LC Waikiki Logo PNG vector in SVG, PDF, AI, CDR format">
            <a:extLst>
              <a:ext uri="{FF2B5EF4-FFF2-40B4-BE49-F238E27FC236}">
                <a16:creationId xmlns:a16="http://schemas.microsoft.com/office/drawing/2014/main" id="{4B3F7F8C-D545-312D-1F11-3F511BB2C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750" y="784091"/>
            <a:ext cx="2774022" cy="952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8C61CC16-17FE-0648-0F43-EAF814B69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1275" y="1134320"/>
            <a:ext cx="4803494" cy="195612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Paso 3.</a:t>
            </a:r>
          </a:p>
        </p:txBody>
      </p:sp>
      <p:sp>
        <p:nvSpPr>
          <p:cNvPr id="14" name="Subtítulo 13">
            <a:extLst>
              <a:ext uri="{FF2B5EF4-FFF2-40B4-BE49-F238E27FC236}">
                <a16:creationId xmlns:a16="http://schemas.microsoft.com/office/drawing/2014/main" id="{43EF6EE1-731F-12B6-CB93-FA4A14E50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275" y="3418271"/>
            <a:ext cx="4822162" cy="2305409"/>
          </a:xfrm>
        </p:spPr>
        <p:txBody>
          <a:bodyPr rtlCol="0"/>
          <a:lstStyle>
            <a:defPPr>
              <a:defRPr lang="es-ES"/>
            </a:defPPr>
          </a:lstStyle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dirty="0"/>
              <a:t> Para iniciar sección debemos colocar la contraseña de la tienda.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dirty="0"/>
              <a:t>Dar</a:t>
            </a:r>
            <a:r>
              <a:rPr lang="es-PA" dirty="0"/>
              <a:t> </a:t>
            </a:r>
            <a:r>
              <a:rPr lang="es-PA" dirty="0" err="1"/>
              <a:t>click</a:t>
            </a:r>
            <a:r>
              <a:rPr lang="es-ES" dirty="0"/>
              <a:t>  en Iniciar sección.</a:t>
            </a:r>
          </a:p>
        </p:txBody>
      </p:sp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4F5D6DE1-23C9-DB51-DB6A-5B1705CD394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2998" r="22998" b="7836"/>
          <a:stretch/>
        </p:blipFill>
        <p:spPr>
          <a:xfrm>
            <a:off x="1308563" y="1545318"/>
            <a:ext cx="4034000" cy="3745905"/>
          </a:xfrm>
        </p:spPr>
      </p:pic>
      <p:pic>
        <p:nvPicPr>
          <p:cNvPr id="6" name="Picture 2" descr="LC Waikiki Logo PNG vector in SVG, PDF, AI, CDR format">
            <a:extLst>
              <a:ext uri="{FF2B5EF4-FFF2-40B4-BE49-F238E27FC236}">
                <a16:creationId xmlns:a16="http://schemas.microsoft.com/office/drawing/2014/main" id="{DDFA8B75-481C-8884-F0EB-68BD3B632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229" y="4898205"/>
            <a:ext cx="2887038" cy="1029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1925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6135" y="1124887"/>
            <a:ext cx="4480560" cy="2352356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Paso 4.</a:t>
            </a:r>
            <a:br>
              <a:rPr lang="es-ES" dirty="0"/>
            </a:br>
            <a:r>
              <a:rPr lang="es-ES" dirty="0"/>
              <a:t> Pantalla inicial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4C8634B-13D1-7BE1-A06E-879703857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6135" y="3571197"/>
            <a:ext cx="4476967" cy="161963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s-ES" sz="1800" dirty="0"/>
              <a:t>La plataforma es de la marca, por lo cual el idioma por defecto será el turco. Podemos cambiarlo usando las opciones de traducción del navegador para facilitar sus pedidos</a:t>
            </a:r>
            <a:r>
              <a:rPr lang="es-ES" sz="1600" dirty="0"/>
              <a:t>.</a:t>
            </a:r>
          </a:p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4870785-59D8-77D2-36C9-67DE682C0D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62" r="6659"/>
          <a:stretch/>
        </p:blipFill>
        <p:spPr>
          <a:xfrm>
            <a:off x="1635304" y="1200728"/>
            <a:ext cx="4460696" cy="283434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8C5CB4-98B3-4727-A49F-5B279BCC5F0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1" b="34005"/>
          <a:stretch/>
        </p:blipFill>
        <p:spPr>
          <a:xfrm>
            <a:off x="2861327" y="4131182"/>
            <a:ext cx="3234673" cy="139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5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D842265-4FF9-1B44-FEB5-821C943C6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70" y="914400"/>
            <a:ext cx="10045861" cy="1146680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Paso 5.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6FD1BEC-1330-FBF5-AE78-093CA64AC6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12"/>
          <a:stretch/>
        </p:blipFill>
        <p:spPr>
          <a:xfrm>
            <a:off x="1464783" y="2061080"/>
            <a:ext cx="5624386" cy="3310801"/>
          </a:xfrm>
          <a:prstGeom prst="rect">
            <a:avLst/>
          </a:prstGeom>
          <a:noFill/>
        </p:spPr>
      </p:pic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B45969B-1704-F63D-6589-8EFA988FB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51790" y="2288614"/>
            <a:ext cx="3108960" cy="347557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dirty="0"/>
              <a:t>Verificar que la fecha sea la actual. (Cabe recordar que la zona horaria que utiliza la plataforma es la de Turquía</a:t>
            </a:r>
            <a:r>
              <a:rPr lang="es-ES" sz="1600" dirty="0"/>
              <a:t>)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dirty="0"/>
              <a:t>Hacemos </a:t>
            </a:r>
            <a:r>
              <a:rPr lang="es-PA" dirty="0" err="1"/>
              <a:t>click</a:t>
            </a:r>
            <a:r>
              <a:rPr lang="es-PA" dirty="0"/>
              <a:t> </a:t>
            </a:r>
            <a:r>
              <a:rPr lang="es-ES" dirty="0"/>
              <a:t>en el cuadr</a:t>
            </a:r>
            <a:r>
              <a:rPr lang="es-ES" sz="1600" dirty="0"/>
              <a:t>o</a:t>
            </a:r>
          </a:p>
          <a:p>
            <a:pPr rtl="0"/>
            <a:endParaRPr lang="es-ES" dirty="0"/>
          </a:p>
          <a:p>
            <a:pPr rtl="0"/>
            <a:endParaRPr lang="es-ES" dirty="0"/>
          </a:p>
          <a:p>
            <a:pPr rtl="0"/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CF42C9F-F059-8CF5-F8D1-66663D786C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0221" t="18876" r="22472" b="71685"/>
          <a:stretch/>
        </p:blipFill>
        <p:spPr>
          <a:xfrm>
            <a:off x="8049054" y="5097291"/>
            <a:ext cx="2109991" cy="64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68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357" y="891251"/>
            <a:ext cx="9653286" cy="1158254"/>
          </a:xfrm>
          <a:noFill/>
        </p:spPr>
        <p:txBody>
          <a:bodyPr rtlCol="0"/>
          <a:lstStyle>
            <a:defPPr>
              <a:defRPr lang="es-ES"/>
            </a:defPPr>
          </a:lstStyle>
          <a:p>
            <a:pPr algn="l" rtl="0"/>
            <a:r>
              <a:rPr lang="es-ES" dirty="0"/>
              <a:t>PASO 6.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400540" y="2257062"/>
            <a:ext cx="4203150" cy="3541853"/>
          </a:xfrm>
          <a:noFill/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Esta es la ventana para  pedidos.</a:t>
            </a:r>
          </a:p>
          <a:p>
            <a:pPr lvl="1" rtl="0"/>
            <a:r>
              <a:rPr lang="es-ES" dirty="0"/>
              <a:t>Se debe esperar unos segundos a que cargue el catálogo, que se ubicará en la sección gris debajo de las opciones disponibles en los botones azules. Los 2 botones azules más grandes son los que se usarán con más frecuencia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3BC15BC-5F91-1B9E-6247-31DA68CFF7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1" r="1"/>
          <a:stretch/>
        </p:blipFill>
        <p:spPr>
          <a:xfrm>
            <a:off x="5603689" y="1593212"/>
            <a:ext cx="5318954" cy="401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95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219"/>
            <a:ext cx="10389243" cy="1424470"/>
          </a:xfrm>
          <a:noFill/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Paso 7.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3418" y="1280159"/>
            <a:ext cx="3551382" cy="5037513"/>
          </a:xfrm>
          <a:noFill/>
        </p:spPr>
        <p:txBody>
          <a:bodyPr vert="horz" lIns="91440" tIns="45720" rIns="91440" bIns="45720" rtlCol="0" anchor="t">
            <a:normAutofit fontScale="70000" lnSpcReduction="20000"/>
          </a:bodyPr>
          <a:lstStyle>
            <a:defPPr>
              <a:defRPr lang="es-ES"/>
            </a:defPPr>
          </a:lstStyle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1900" dirty="0"/>
              <a:t>Una vez que cargue el catálogo, se desplegará una </a:t>
            </a:r>
            <a:r>
              <a:rPr lang="es-ES" sz="1900" dirty="0">
                <a:solidFill>
                  <a:srgbClr val="FF0000"/>
                </a:solidFill>
              </a:rPr>
              <a:t>barra de búsqueda</a:t>
            </a:r>
            <a:r>
              <a:rPr lang="es-ES" sz="1900" dirty="0"/>
              <a:t>, una </a:t>
            </a:r>
            <a:r>
              <a:rPr lang="es-ES" sz="19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tabla de búsqueda por categorías </a:t>
            </a:r>
            <a:r>
              <a:rPr lang="es-ES" sz="1900" dirty="0"/>
              <a:t>y un </a:t>
            </a:r>
            <a:r>
              <a:rPr lang="es-ES" sz="1900" dirty="0">
                <a:solidFill>
                  <a:srgbClr val="FFFF00"/>
                </a:solidFill>
              </a:rPr>
              <a:t>listado de productos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1900" dirty="0"/>
              <a:t>En el campo de búsqueda que aparece, podemos colocar el código de articulo a solicitar si ya tenemos el código.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900" dirty="0"/>
              <a:t>Luego aparece una secuencia de códigos, con relación al primer código escrito, el cual permite seguir seleccionando los demás.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1900" dirty="0"/>
              <a:t>De no tener el código del artículo que queremos solicitar, podemos usar la búsqueda por categorías para encontrar dicho articulo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sz="1900" dirty="0"/>
              <a:t>Una vez ubicado el artículo que queremos, hacemos clic en él y luego clic en el botón “</a:t>
            </a:r>
            <a:r>
              <a:rPr lang="es-ES" sz="1900" dirty="0">
                <a:solidFill>
                  <a:srgbClr val="FF0000"/>
                </a:solidFill>
              </a:rPr>
              <a:t>añadir a la cesta</a:t>
            </a:r>
            <a:r>
              <a:rPr lang="es-ES" sz="1900" dirty="0"/>
              <a:t>” y saldrá una notificación azul indicando que el producto fue agregado.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s-ES" dirty="0"/>
              <a:t>Una vez agregado todos los artículos que deseamos, pasamos al siguiente paso haciendo clic en: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es-ES" dirty="0"/>
          </a:p>
          <a:p>
            <a:pPr rtl="0"/>
            <a:endParaRPr lang="es-ES" dirty="0"/>
          </a:p>
          <a:p>
            <a:pPr rtl="0"/>
            <a:endParaRPr lang="es-ES" dirty="0"/>
          </a:p>
          <a:p>
            <a:pPr rtl="0"/>
            <a:endParaRPr lang="es-ES" dirty="0"/>
          </a:p>
          <a:p>
            <a:pPr rtl="0"/>
            <a:endParaRPr lang="es-ES" dirty="0"/>
          </a:p>
          <a:p>
            <a:pPr rtl="0"/>
            <a:endParaRPr lang="es-ES" dirty="0"/>
          </a:p>
          <a:p>
            <a:pPr rtl="0"/>
            <a:endParaRPr lang="es-ES" dirty="0"/>
          </a:p>
          <a:p>
            <a:pPr rtl="0"/>
            <a:endParaRPr lang="es-ES" dirty="0"/>
          </a:p>
          <a:p>
            <a:pPr rtl="0"/>
            <a:endParaRPr lang="es-ES" dirty="0"/>
          </a:p>
          <a:p>
            <a:pPr rtl="0"/>
            <a:endParaRPr lang="es-ES" dirty="0"/>
          </a:p>
          <a:p>
            <a:pPr rtl="0"/>
            <a:endParaRPr lang="es-ES" dirty="0"/>
          </a:p>
          <a:p>
            <a:pPr rtl="0"/>
            <a:endParaRPr lang="es-ES" dirty="0"/>
          </a:p>
          <a:p>
            <a:pPr rtl="0"/>
            <a:endParaRPr lang="es-ES" dirty="0"/>
          </a:p>
          <a:p>
            <a:pPr rtl="0"/>
            <a:endParaRPr lang="es-ES" dirty="0"/>
          </a:p>
          <a:p>
            <a:pPr rtl="0"/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4B4D6B3-FE53-0576-F3F6-964A0B35BE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470" b="5902"/>
          <a:stretch/>
        </p:blipFill>
        <p:spPr>
          <a:xfrm>
            <a:off x="4199940" y="978454"/>
            <a:ext cx="7754524" cy="39031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F29F9D-0AC2-4726-B61B-BBA8A2AB085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504"/>
          <a:stretch/>
        </p:blipFill>
        <p:spPr>
          <a:xfrm>
            <a:off x="4232193" y="5141247"/>
            <a:ext cx="7690017" cy="90521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63D127D-C36E-46E4-94BB-4500BD1E0661}"/>
              </a:ext>
            </a:extLst>
          </p:cNvPr>
          <p:cNvSpPr/>
          <p:nvPr/>
        </p:nvSpPr>
        <p:spPr>
          <a:xfrm>
            <a:off x="7569202" y="4050145"/>
            <a:ext cx="549562" cy="2355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C8BAB1B-EE5D-41D6-AFC9-DBDD6751BF41}"/>
              </a:ext>
            </a:extLst>
          </p:cNvPr>
          <p:cNvCxnSpPr>
            <a:cxnSpLocks/>
          </p:cNvCxnSpPr>
          <p:nvPr/>
        </p:nvCxnSpPr>
        <p:spPr>
          <a:xfrm flipH="1" flipV="1">
            <a:off x="6032821" y="5570903"/>
            <a:ext cx="295243" cy="3086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Imagen 8">
            <a:extLst>
              <a:ext uri="{FF2B5EF4-FFF2-40B4-BE49-F238E27FC236}">
                <a16:creationId xmlns:a16="http://schemas.microsoft.com/office/drawing/2014/main" id="{0E3F6294-D374-4702-B037-8AEEC8C493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83" t="45404" r="80365" b="40579"/>
          <a:stretch/>
        </p:blipFill>
        <p:spPr>
          <a:xfrm>
            <a:off x="2206151" y="5528564"/>
            <a:ext cx="1311564" cy="70196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E6654DC-891C-4166-818B-1E1365A7B28E}"/>
              </a:ext>
            </a:extLst>
          </p:cNvPr>
          <p:cNvSpPr/>
          <p:nvPr/>
        </p:nvSpPr>
        <p:spPr>
          <a:xfrm>
            <a:off x="4479636" y="3343564"/>
            <a:ext cx="1219200" cy="3232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97B94D-2372-48F8-8609-9780A8F278AB}"/>
              </a:ext>
            </a:extLst>
          </p:cNvPr>
          <p:cNvSpPr/>
          <p:nvPr/>
        </p:nvSpPr>
        <p:spPr>
          <a:xfrm>
            <a:off x="4479636" y="3666836"/>
            <a:ext cx="2909455" cy="61883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AA6485-3069-475B-B2BA-5E01415A17D2}"/>
              </a:ext>
            </a:extLst>
          </p:cNvPr>
          <p:cNvSpPr/>
          <p:nvPr/>
        </p:nvSpPr>
        <p:spPr>
          <a:xfrm>
            <a:off x="7499927" y="3343564"/>
            <a:ext cx="3962400" cy="129309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97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361" y="777241"/>
            <a:ext cx="10007278" cy="885304"/>
          </a:xfrm>
          <a:noFill/>
        </p:spPr>
        <p:txBody>
          <a:bodyPr rtlCol="0" anchor="b"/>
          <a:lstStyle>
            <a:defPPr>
              <a:defRPr lang="es-ES"/>
            </a:defPPr>
          </a:lstStyle>
          <a:p>
            <a:pPr algn="l" rtl="0">
              <a:lnSpc>
                <a:spcPct val="80000"/>
              </a:lnSpc>
            </a:pPr>
            <a:r>
              <a:rPr lang="es-ES" dirty="0"/>
              <a:t>Paso 8.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2361" y="1662545"/>
            <a:ext cx="2971640" cy="4252118"/>
          </a:xfrm>
          <a:noFill/>
        </p:spPr>
        <p:txBody>
          <a:bodyPr rtlCol="0">
            <a:normAutofit fontScale="92500"/>
          </a:bodyPr>
          <a:lstStyle>
            <a:defPPr>
              <a:defRPr lang="es-ES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ES" sz="1100" dirty="0"/>
              <a:t>Al hacer clic en “mi carrito” se desplegará la ventana con el detalle de todo lo que estamos solicitando. Aquí deben revisar que todo esté acorde a lo que desean solicitar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ES" sz="1100" dirty="0"/>
              <a:t>En esta pantalla podrán incrementar, reducir o eliminar las cantidades de los productos que están solicitando de manera individual, haciendo clic en el producto y luego en el botón de su elección: 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ES" sz="1100" dirty="0"/>
              <a:t>Esta pantalla también les muestra información sobre las cantidades y las unidades de lo que están solicitando, por ejemplo: Paquete de bolsas, Cantidad 1, Unidades por paquete 500. Esto hay que tenerlo muy en cuenta.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ES" sz="1100" dirty="0"/>
              <a:t>Si desean regresar a la pantalla anterior para seguir agregando productos presionan “cerrar” o “apagar” y siguen seleccionando.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ES" sz="1100" dirty="0"/>
              <a:t>Si desean finalizar el pedido hacen clic en el botón “Crear consulta”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788DDD3-3DEA-4612-956B-07997081FC8E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53"/>
          <a:stretch/>
        </p:blipFill>
        <p:spPr>
          <a:xfrm>
            <a:off x="4160874" y="1525363"/>
            <a:ext cx="6938765" cy="3739364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A21FAB-7E19-4BF4-9500-C88F633202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110" y="3183418"/>
            <a:ext cx="612744" cy="18681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9B833AE-2A27-4EFD-A90C-E68D3094244B}"/>
              </a:ext>
            </a:extLst>
          </p:cNvPr>
          <p:cNvSpPr/>
          <p:nvPr/>
        </p:nvSpPr>
        <p:spPr>
          <a:xfrm>
            <a:off x="8774545" y="2392218"/>
            <a:ext cx="350982" cy="1293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86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67AF9-584C-486F-2479-24FAA0B04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VENTANA CON FACTURAS Y NUMERO DE ORDEN</a:t>
            </a:r>
            <a:endParaRPr lang="es-PA" dirty="0"/>
          </a:p>
        </p:txBody>
      </p:sp>
      <p:pic>
        <p:nvPicPr>
          <p:cNvPr id="10" name="Marcador de contenido 9" descr="Pantalla de una computadora&#10;&#10;Descripción generada automáticamente">
            <a:extLst>
              <a:ext uri="{FF2B5EF4-FFF2-40B4-BE49-F238E27FC236}">
                <a16:creationId xmlns:a16="http://schemas.microsoft.com/office/drawing/2014/main" id="{9E54D551-55B6-C258-7B01-D76AA6EE28C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6" t="7016" b="14156"/>
          <a:stretch/>
        </p:blipFill>
        <p:spPr>
          <a:xfrm>
            <a:off x="4950490" y="1515852"/>
            <a:ext cx="6403310" cy="4824626"/>
          </a:xfrm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3" name="Flecha: a la derecha con muesca 2">
            <a:extLst>
              <a:ext uri="{FF2B5EF4-FFF2-40B4-BE49-F238E27FC236}">
                <a16:creationId xmlns:a16="http://schemas.microsoft.com/office/drawing/2014/main" id="{893A5300-55C1-C853-E21D-66F82E9089D3}"/>
              </a:ext>
            </a:extLst>
          </p:cNvPr>
          <p:cNvSpPr/>
          <p:nvPr/>
        </p:nvSpPr>
        <p:spPr>
          <a:xfrm>
            <a:off x="3287242" y="3098540"/>
            <a:ext cx="318140" cy="33046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0EDBB406-D028-2CE5-8646-F47C99611BC0}"/>
                  </a:ext>
                </a:extLst>
              </p14:cNvPr>
              <p14:cNvContentPartPr/>
              <p14:nvPr/>
            </p14:nvContentPartPr>
            <p14:xfrm>
              <a:off x="9218369" y="1083809"/>
              <a:ext cx="360" cy="36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0EDBB406-D028-2CE5-8646-F47C99611B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12249" y="107768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1DA24903-F8E3-E3C6-EC86-F2E58D79D3E3}"/>
                  </a:ext>
                </a:extLst>
              </p14:cNvPr>
              <p14:cNvContentPartPr/>
              <p14:nvPr/>
            </p14:nvContentPartPr>
            <p14:xfrm>
              <a:off x="3221129" y="2838449"/>
              <a:ext cx="360" cy="36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1DA24903-F8E3-E3C6-EC86-F2E58D79D3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15009" y="283232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01EC180A-ED1A-FB5D-18CE-25BC9A63D0F7}"/>
                  </a:ext>
                </a:extLst>
              </p14:cNvPr>
              <p14:cNvContentPartPr/>
              <p14:nvPr/>
            </p14:nvContentPartPr>
            <p14:xfrm>
              <a:off x="1094969" y="63209"/>
              <a:ext cx="360" cy="36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01EC180A-ED1A-FB5D-18CE-25BC9A63D0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8849" y="5708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D9BE2CF0-93E1-A360-A508-F20D854536D7}"/>
                  </a:ext>
                </a:extLst>
              </p14:cNvPr>
              <p14:cNvContentPartPr/>
              <p14:nvPr/>
            </p14:nvContentPartPr>
            <p14:xfrm>
              <a:off x="2360369" y="818129"/>
              <a:ext cx="360" cy="36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D9BE2CF0-93E1-A360-A508-F20D854536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54249" y="81200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D11B2B49-BB49-E739-50AA-53B078816D36}"/>
                  </a:ext>
                </a:extLst>
              </p14:cNvPr>
              <p14:cNvContentPartPr/>
              <p14:nvPr/>
            </p14:nvContentPartPr>
            <p14:xfrm>
              <a:off x="2987129" y="1275689"/>
              <a:ext cx="360" cy="36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D11B2B49-BB49-E739-50AA-53B078816D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81009" y="126956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A1D329A2-372F-0702-BD2D-E82ED566B489}"/>
                  </a:ext>
                </a:extLst>
              </p14:cNvPr>
              <p14:cNvContentPartPr/>
              <p14:nvPr/>
            </p14:nvContentPartPr>
            <p14:xfrm>
              <a:off x="1828649" y="6166649"/>
              <a:ext cx="360" cy="360"/>
            </p14:xfrm>
          </p:contentPart>
        </mc:Choice>
        <mc:Fallback xmlns=""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A1D329A2-372F-0702-BD2D-E82ED566B4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22529" y="6160529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8BA437BF-ACC3-5E29-C49E-17F8784C63D9}"/>
              </a:ext>
            </a:extLst>
          </p:cNvPr>
          <p:cNvSpPr/>
          <p:nvPr/>
        </p:nvSpPr>
        <p:spPr>
          <a:xfrm>
            <a:off x="2158409" y="5167423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3EBB89E6-6A7F-B064-8CB1-659262F00D18}"/>
              </a:ext>
            </a:extLst>
          </p:cNvPr>
          <p:cNvSpPr txBox="1">
            <a:spLocks/>
          </p:cNvSpPr>
          <p:nvPr/>
        </p:nvSpPr>
        <p:spPr>
          <a:xfrm>
            <a:off x="838200" y="1779325"/>
            <a:ext cx="3490732" cy="4297680"/>
          </a:xfrm>
          <a:prstGeom prst="rect">
            <a:avLst/>
          </a:prstGeom>
        </p:spPr>
        <p:txBody>
          <a:bodyPr vert="horz" lIns="91440" tIns="274320" rIns="91440" bIns="45720" rtlCol="0">
            <a:normAutofit fontScale="92500" lnSpcReduction="10000"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Una vez que se realice el pedido, genera un numero de orden, se ingresa a mí requisición , esperamos que cargué y abre una ventana.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Ya en la venta aparece toda las ordenes que realicen.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También pueden ver el progreso de su requisición, Aprobación, Espera de procesado, la orden se creó, fecha en que lo enviaron y fecha de transferencia.</a:t>
            </a:r>
          </a:p>
          <a:p>
            <a:endParaRPr lang="es-ES" dirty="0"/>
          </a:p>
        </p:txBody>
      </p:sp>
      <p:pic>
        <p:nvPicPr>
          <p:cNvPr id="20" name="Imagen 19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3A7FE9CA-B64F-7B58-C2D7-C3F7BEB315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649" y="3098540"/>
            <a:ext cx="1045872" cy="553907"/>
          </a:xfrm>
          <a:prstGeom prst="rect">
            <a:avLst/>
          </a:prstGeom>
        </p:spPr>
      </p:pic>
      <p:sp>
        <p:nvSpPr>
          <p:cNvPr id="25" name="Flecha: circular 24">
            <a:extLst>
              <a:ext uri="{FF2B5EF4-FFF2-40B4-BE49-F238E27FC236}">
                <a16:creationId xmlns:a16="http://schemas.microsoft.com/office/drawing/2014/main" id="{192392FF-DA84-8F2F-ABCD-B76A282B03E4}"/>
              </a:ext>
            </a:extLst>
          </p:cNvPr>
          <p:cNvSpPr/>
          <p:nvPr/>
        </p:nvSpPr>
        <p:spPr>
          <a:xfrm>
            <a:off x="6642338" y="2275435"/>
            <a:ext cx="808075" cy="563014"/>
          </a:xfrm>
          <a:prstGeom prst="circularArrow">
            <a:avLst/>
          </a:prstGeom>
          <a:ln>
            <a:solidFill>
              <a:srgbClr val="00B0F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6" name="Flecha: circular 25">
            <a:extLst>
              <a:ext uri="{FF2B5EF4-FFF2-40B4-BE49-F238E27FC236}">
                <a16:creationId xmlns:a16="http://schemas.microsoft.com/office/drawing/2014/main" id="{007625CA-5810-5469-A669-15678F246C52}"/>
              </a:ext>
            </a:extLst>
          </p:cNvPr>
          <p:cNvSpPr/>
          <p:nvPr/>
        </p:nvSpPr>
        <p:spPr>
          <a:xfrm>
            <a:off x="2874520" y="5436477"/>
            <a:ext cx="898238" cy="728084"/>
          </a:xfrm>
          <a:prstGeom prst="circularArrow">
            <a:avLst/>
          </a:prstGeom>
          <a:ln>
            <a:solidFill>
              <a:srgbClr val="00B0F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444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2F71A-7DE4-33BD-2411-71024B780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Exportar pedido y enviar por correo.</a:t>
            </a:r>
            <a:endParaRPr lang="es-PA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749415-F12B-93E5-A532-044CAB9BB5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 1.  Al hacer </a:t>
            </a:r>
            <a:r>
              <a:rPr lang="es-ES" dirty="0" err="1"/>
              <a:t>click</a:t>
            </a:r>
            <a:r>
              <a:rPr lang="es-ES" dirty="0"/>
              <a:t> en  la factura,  se mostrará otra venta, con todo lo solicitado y sus detalles.</a:t>
            </a:r>
          </a:p>
          <a:p>
            <a:pPr marL="342900" indent="-342900">
              <a:buAutoNum type="arabicPeriod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2. En el circulo dan </a:t>
            </a:r>
            <a:r>
              <a:rPr lang="es-ES" dirty="0" err="1"/>
              <a:t>click</a:t>
            </a:r>
            <a:r>
              <a:rPr lang="es-ES" dirty="0"/>
              <a:t> derecho y podrán  exportar todo o lo seleccionado, se abre otra  ventana le damos descargar y listo, abre el Excel con toda la información, ese Excel lo envían por correo: luisvelasquez@grupodavid.com</a:t>
            </a:r>
          </a:p>
        </p:txBody>
      </p:sp>
      <p:pic>
        <p:nvPicPr>
          <p:cNvPr id="15" name="Imagen 14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5569CC38-B947-E157-5224-EF65B6D42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143" y="1913860"/>
            <a:ext cx="3090194" cy="3965945"/>
          </a:xfrm>
          <a:prstGeom prst="rect">
            <a:avLst/>
          </a:prstGeom>
        </p:spPr>
      </p:pic>
      <p:pic>
        <p:nvPicPr>
          <p:cNvPr id="17" name="Imagen 16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BBE5F8E-F671-6BAE-12F8-159D2E1C9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991" y="1913860"/>
            <a:ext cx="3090194" cy="3965946"/>
          </a:xfrm>
          <a:prstGeom prst="rect">
            <a:avLst/>
          </a:prstGeom>
        </p:spPr>
      </p:pic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F5A045B9-F627-BD1F-77D5-4B63B6449825}"/>
              </a:ext>
            </a:extLst>
          </p:cNvPr>
          <p:cNvCxnSpPr>
            <a:cxnSpLocks/>
          </p:cNvCxnSpPr>
          <p:nvPr/>
        </p:nvCxnSpPr>
        <p:spPr>
          <a:xfrm rot="16200000" flipH="1">
            <a:off x="4680146" y="4548247"/>
            <a:ext cx="340241" cy="302692"/>
          </a:xfrm>
          <a:prstGeom prst="bentConnector3">
            <a:avLst>
              <a:gd name="adj1" fmla="val -937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E828F23B-C976-5B5D-742A-06FC5DC17E29}"/>
              </a:ext>
            </a:extLst>
          </p:cNvPr>
          <p:cNvCxnSpPr/>
          <p:nvPr/>
        </p:nvCxnSpPr>
        <p:spPr>
          <a:xfrm flipH="1">
            <a:off x="5699051" y="5465135"/>
            <a:ext cx="3969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472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937" y="879674"/>
            <a:ext cx="5377406" cy="255000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Listo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17638" y="3576900"/>
            <a:ext cx="4126635" cy="2233613"/>
          </a:xfrm>
        </p:spPr>
        <p:txBody>
          <a:bodyPr rtlCol="0">
            <a:normAutofit fontScale="77500" lnSpcReduction="20000"/>
          </a:bodyPr>
          <a:lstStyle>
            <a:defPPr>
              <a:defRPr lang="es-ES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ES" sz="2400" dirty="0"/>
              <a:t>La requisición de pedidos de suministros fue creada.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ES" sz="2400" dirty="0"/>
              <a:t>Pueden ver el número con el que se creó la orden y los detalles de su pedido. Lo exportan y envían por correo.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s-ES" sz="2400" dirty="0"/>
              <a:t>Tomar en cuanta esta solicitud es con un mínimo de tiempo a 6 meses.</a:t>
            </a:r>
          </a:p>
          <a:p>
            <a:pPr rtl="0"/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61156717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TM10081922">
      <a:dk1>
        <a:srgbClr val="000000"/>
      </a:dk1>
      <a:lt1>
        <a:srgbClr val="FFFFFF"/>
      </a:lt1>
      <a:dk2>
        <a:srgbClr val="435369"/>
      </a:dk2>
      <a:lt2>
        <a:srgbClr val="E7E5E5"/>
      </a:lt2>
      <a:accent1>
        <a:srgbClr val="F2E5D8"/>
      </a:accent1>
      <a:accent2>
        <a:srgbClr val="8C3A27"/>
      </a:accent2>
      <a:accent3>
        <a:srgbClr val="F0C8BC"/>
      </a:accent3>
      <a:accent4>
        <a:srgbClr val="D9A390"/>
      </a:accent4>
      <a:accent5>
        <a:srgbClr val="FFF6F4"/>
      </a:accent5>
      <a:accent6>
        <a:srgbClr val="183F1E"/>
      </a:accent6>
      <a:hlink>
        <a:srgbClr val="467886"/>
      </a:hlink>
      <a:folHlink>
        <a:srgbClr val="96607D"/>
      </a:folHlink>
    </a:clrScheme>
    <a:fontScheme name="Custom 100">
      <a:majorFont>
        <a:latin typeface="Tisa Offc Serif Pro"/>
        <a:ea typeface=""/>
        <a:cs typeface=""/>
      </a:majorFont>
      <a:minorFont>
        <a:latin typeface="Qui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342554_TF10081922_Win32" id="{844886B3-BF47-497B-B4FE-2EF751E8CA35}" vid="{A6C54B32-D796-482B-83D4-8010EA1494B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AF1DBB7-4BA2-49E3-BEC8-A38406CA5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49358-775F-4CF9-9AE6-33A7901637E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FB2D96AF-4C9E-4DD0-A165-CD22BB87D09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{6BE8BBFC-A579-434B-8ABC-FF589A8596D5}tf10081922_win32</Template>
  <TotalTime>2189</TotalTime>
  <Words>742</Words>
  <Application>Microsoft Office PowerPoint</Application>
  <PresentationFormat>Panorámica</PresentationFormat>
  <Paragraphs>71</Paragraphs>
  <Slides>12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Quire Sans Pro Light</vt:lpstr>
      <vt:lpstr>Tisa Offc Serif Pro</vt:lpstr>
      <vt:lpstr>Personalizar</vt:lpstr>
      <vt:lpstr>MANUAL DE DYNAMICS</vt:lpstr>
      <vt:lpstr>DYNAMICS</vt:lpstr>
      <vt:lpstr>Paso 2.</vt:lpstr>
      <vt:lpstr>Paso 3.</vt:lpstr>
      <vt:lpstr>Paso 4.  Pantalla inicial</vt:lpstr>
      <vt:lpstr>Paso 5.</vt:lpstr>
      <vt:lpstr>PASO 6.</vt:lpstr>
      <vt:lpstr>Paso 7.</vt:lpstr>
      <vt:lpstr>Paso 8.</vt:lpstr>
      <vt:lpstr>VENTANA CON FACTURAS Y NUMERO DE ORDEN</vt:lpstr>
      <vt:lpstr>Exportar pedido y enviar por correo.</vt:lpstr>
      <vt:lpstr>Listo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DE DYNAMICS</dc:title>
  <dc:creator>Yanelka Gomez</dc:creator>
  <cp:lastModifiedBy>Yanelka Gomez</cp:lastModifiedBy>
  <cp:revision>15</cp:revision>
  <dcterms:created xsi:type="dcterms:W3CDTF">2024-05-24T15:06:38Z</dcterms:created>
  <dcterms:modified xsi:type="dcterms:W3CDTF">2024-06-21T19:43:58Z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c66f6488-6f7b-4340-b880-828136ff7811_Enabled">
    <vt:lpwstr>true</vt:lpwstr>
  </property>
  <property fmtid="{D5CDD505-2E9C-101B-9397-08002B2CF9AE}" pid="4" name="MSIP_Label_c66f6488-6f7b-4340-b880-828136ff7811_SetDate">
    <vt:lpwstr>2024-05-31T13:38:26Z</vt:lpwstr>
  </property>
  <property fmtid="{D5CDD505-2E9C-101B-9397-08002B2CF9AE}" pid="5" name="MSIP_Label_c66f6488-6f7b-4340-b880-828136ff7811_Method">
    <vt:lpwstr>Privileged</vt:lpwstr>
  </property>
  <property fmtid="{D5CDD505-2E9C-101B-9397-08002B2CF9AE}" pid="6" name="MSIP_Label_c66f6488-6f7b-4340-b880-828136ff7811_Name">
    <vt:lpwstr>c66f6488-6f7b-4340-b880-828136ff7811</vt:lpwstr>
  </property>
  <property fmtid="{D5CDD505-2E9C-101B-9397-08002B2CF9AE}" pid="7" name="MSIP_Label_c66f6488-6f7b-4340-b880-828136ff7811_SiteId">
    <vt:lpwstr>832c1bc9-1e43-4f93-a086-708d36b0c95d</vt:lpwstr>
  </property>
  <property fmtid="{D5CDD505-2E9C-101B-9397-08002B2CF9AE}" pid="8" name="MSIP_Label_c66f6488-6f7b-4340-b880-828136ff7811_ActionId">
    <vt:lpwstr>c18a51c1-caf5-4a97-8513-af95b66db4a3</vt:lpwstr>
  </property>
  <property fmtid="{D5CDD505-2E9C-101B-9397-08002B2CF9AE}" pid="9" name="MSIP_Label_c66f6488-6f7b-4340-b880-828136ff7811_ContentBits">
    <vt:lpwstr>0</vt:lpwstr>
  </property>
</Properties>
</file>