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2" r:id="rId3"/>
    <p:sldId id="265" r:id="rId4"/>
    <p:sldId id="345" r:id="rId5"/>
    <p:sldId id="344" r:id="rId6"/>
  </p:sldIdLst>
  <p:sldSz cx="10287000" cy="18288000"/>
  <p:notesSz cx="6858000" cy="9144000"/>
  <p:embeddedFontLst>
    <p:embeddedFont>
      <p:font typeface="Garet" panose="020B0604020202020204" charset="0"/>
      <p:regular r:id="rId7"/>
    </p:embeddedFont>
    <p:embeddedFont>
      <p:font typeface="Lato" panose="020F0502020204030203" pitchFamily="34" charset="0"/>
      <p:regular r:id="rId8"/>
      <p:bold r:id="rId9"/>
      <p:italic r:id="rId10"/>
      <p:boldItalic r:id="rId11"/>
    </p:embeddedFont>
    <p:embeddedFont>
      <p:font typeface="Muli" panose="020B0604020202020204" charset="0"/>
      <p:regular r:id="rId12"/>
    </p:embeddedFont>
    <p:embeddedFont>
      <p:font typeface="Muli Bold" panose="020B0604020202020204" charset="0"/>
      <p:regular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Open Sans Bold" panose="020B0806030504020204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351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svg"/><Relationship Id="rId7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7.svg"/><Relationship Id="rId10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8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0935" y="1028700"/>
            <a:ext cx="9513865" cy="15399006"/>
            <a:chOff x="0" y="0"/>
            <a:chExt cx="2242926" cy="3630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2926" cy="3630368"/>
            </a:xfrm>
            <a:custGeom>
              <a:avLst/>
              <a:gdLst/>
              <a:ahLst/>
              <a:cxnLst/>
              <a:rect l="l" t="t" r="r" b="b"/>
              <a:pathLst>
                <a:path w="2242926" h="3630368">
                  <a:moveTo>
                    <a:pt x="2118466" y="3630368"/>
                  </a:moveTo>
                  <a:lnTo>
                    <a:pt x="124460" y="3630368"/>
                  </a:lnTo>
                  <a:cubicBezTo>
                    <a:pt x="55880" y="3630368"/>
                    <a:pt x="0" y="3574488"/>
                    <a:pt x="0" y="350590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18466" y="0"/>
                  </a:lnTo>
                  <a:cubicBezTo>
                    <a:pt x="2187046" y="0"/>
                    <a:pt x="2242926" y="55880"/>
                    <a:pt x="2242926" y="124460"/>
                  </a:cubicBezTo>
                  <a:lnTo>
                    <a:pt x="2242926" y="3505908"/>
                  </a:lnTo>
                  <a:cubicBezTo>
                    <a:pt x="2242926" y="3574488"/>
                    <a:pt x="2187046" y="3630368"/>
                    <a:pt x="2118466" y="363036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4" name="Freeform 4"/>
          <p:cNvSpPr/>
          <p:nvPr/>
        </p:nvSpPr>
        <p:spPr>
          <a:xfrm>
            <a:off x="757828" y="9144000"/>
            <a:ext cx="9529172" cy="8802572"/>
          </a:xfrm>
          <a:custGeom>
            <a:avLst/>
            <a:gdLst/>
            <a:ahLst/>
            <a:cxnLst/>
            <a:rect l="l" t="t" r="r" b="b"/>
            <a:pathLst>
              <a:path w="9529172" h="8802572">
                <a:moveTo>
                  <a:pt x="0" y="0"/>
                </a:moveTo>
                <a:lnTo>
                  <a:pt x="9529172" y="0"/>
                </a:lnTo>
                <a:lnTo>
                  <a:pt x="9529172" y="8802572"/>
                </a:lnTo>
                <a:lnTo>
                  <a:pt x="0" y="8802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2617919" y="2050599"/>
            <a:ext cx="5079896" cy="1177838"/>
          </a:xfrm>
          <a:custGeom>
            <a:avLst/>
            <a:gdLst/>
            <a:ahLst/>
            <a:cxnLst/>
            <a:rect l="l" t="t" r="r" b="b"/>
            <a:pathLst>
              <a:path w="5079896" h="1177838">
                <a:moveTo>
                  <a:pt x="0" y="0"/>
                </a:moveTo>
                <a:lnTo>
                  <a:pt x="5079896" y="0"/>
                </a:lnTo>
                <a:lnTo>
                  <a:pt x="5079896" y="1177838"/>
                </a:lnTo>
                <a:lnTo>
                  <a:pt x="0" y="1177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5772" b="-175517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943233" y="4209512"/>
            <a:ext cx="8315067" cy="403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8"/>
              </a:lnSpc>
            </a:pPr>
            <a:r>
              <a:rPr lang="en-US" sz="9570" b="1" spc="-95" dirty="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Manual para Cierre de </a:t>
            </a:r>
            <a:r>
              <a:rPr lang="en-US" sz="9570" b="1" spc="-95" dirty="0" err="1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Invoce</a:t>
            </a:r>
            <a:r>
              <a:rPr lang="en-US" sz="9570" b="1" spc="-95" dirty="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8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9956" y="555585"/>
            <a:ext cx="9513865" cy="17198674"/>
            <a:chOff x="0" y="0"/>
            <a:chExt cx="2242926" cy="40546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2926" cy="4054646"/>
            </a:xfrm>
            <a:custGeom>
              <a:avLst/>
              <a:gdLst/>
              <a:ahLst/>
              <a:cxnLst/>
              <a:rect l="l" t="t" r="r" b="b"/>
              <a:pathLst>
                <a:path w="2242926" h="4054646">
                  <a:moveTo>
                    <a:pt x="2118466" y="4054646"/>
                  </a:moveTo>
                  <a:lnTo>
                    <a:pt x="124460" y="4054646"/>
                  </a:lnTo>
                  <a:cubicBezTo>
                    <a:pt x="55880" y="4054646"/>
                    <a:pt x="0" y="3998766"/>
                    <a:pt x="0" y="393018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18466" y="0"/>
                  </a:lnTo>
                  <a:cubicBezTo>
                    <a:pt x="2187046" y="0"/>
                    <a:pt x="2242926" y="55880"/>
                    <a:pt x="2242926" y="124460"/>
                  </a:cubicBezTo>
                  <a:lnTo>
                    <a:pt x="2242926" y="3930186"/>
                  </a:lnTo>
                  <a:cubicBezTo>
                    <a:pt x="2242926" y="3998766"/>
                    <a:pt x="2187046" y="4054646"/>
                    <a:pt x="2118466" y="405464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" name="Group 4"/>
          <p:cNvGrpSpPr/>
          <p:nvPr/>
        </p:nvGrpSpPr>
        <p:grpSpPr>
          <a:xfrm rot="-10800000">
            <a:off x="9130834" y="17259300"/>
            <a:ext cx="989918" cy="989918"/>
            <a:chOff x="0" y="0"/>
            <a:chExt cx="1319890" cy="1319890"/>
          </a:xfrm>
        </p:grpSpPr>
        <p:sp>
          <p:nvSpPr>
            <p:cNvPr id="5" name="Freeform 5"/>
            <p:cNvSpPr/>
            <p:nvPr/>
          </p:nvSpPr>
          <p:spPr>
            <a:xfrm rot="-10800000">
              <a:off x="0" y="0"/>
              <a:ext cx="1319890" cy="1319890"/>
            </a:xfrm>
            <a:custGeom>
              <a:avLst/>
              <a:gdLst/>
              <a:ahLst/>
              <a:cxnLst/>
              <a:rect l="l" t="t" r="r" b="b"/>
              <a:pathLst>
                <a:path w="1319890" h="1319890">
                  <a:moveTo>
                    <a:pt x="0" y="0"/>
                  </a:moveTo>
                  <a:lnTo>
                    <a:pt x="1319890" y="0"/>
                  </a:lnTo>
                  <a:lnTo>
                    <a:pt x="1319890" y="1319890"/>
                  </a:lnTo>
                  <a:lnTo>
                    <a:pt x="0" y="1319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6" name="Freeform 6"/>
            <p:cNvSpPr/>
            <p:nvPr/>
          </p:nvSpPr>
          <p:spPr>
            <a:xfrm>
              <a:off x="322613" y="322613"/>
              <a:ext cx="674663" cy="674663"/>
            </a:xfrm>
            <a:custGeom>
              <a:avLst/>
              <a:gdLst/>
              <a:ahLst/>
              <a:cxnLst/>
              <a:rect l="l" t="t" r="r" b="b"/>
              <a:pathLst>
                <a:path w="674663" h="674663">
                  <a:moveTo>
                    <a:pt x="0" y="0"/>
                  </a:moveTo>
                  <a:lnTo>
                    <a:pt x="674664" y="0"/>
                  </a:lnTo>
                  <a:lnTo>
                    <a:pt x="674664" y="674664"/>
                  </a:lnTo>
                  <a:lnTo>
                    <a:pt x="0" y="674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9" name="Freeform 9"/>
          <p:cNvSpPr/>
          <p:nvPr/>
        </p:nvSpPr>
        <p:spPr>
          <a:xfrm>
            <a:off x="6180901" y="711678"/>
            <a:ext cx="4631862" cy="3091768"/>
          </a:xfrm>
          <a:custGeom>
            <a:avLst/>
            <a:gdLst/>
            <a:ahLst/>
            <a:cxnLst/>
            <a:rect l="l" t="t" r="r" b="b"/>
            <a:pathLst>
              <a:path w="4631862" h="3091768">
                <a:moveTo>
                  <a:pt x="0" y="0"/>
                </a:moveTo>
                <a:lnTo>
                  <a:pt x="4631862" y="0"/>
                </a:lnTo>
                <a:lnTo>
                  <a:pt x="4631862" y="3091767"/>
                </a:lnTo>
                <a:lnTo>
                  <a:pt x="0" y="3091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TextBox 10"/>
          <p:cNvSpPr txBox="1"/>
          <p:nvPr/>
        </p:nvSpPr>
        <p:spPr>
          <a:xfrm>
            <a:off x="781616" y="3153610"/>
            <a:ext cx="8447847" cy="137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4925" lvl="1" algn="l">
              <a:lnSpc>
                <a:spcPts val="3695"/>
              </a:lnSpc>
            </a:pPr>
            <a:endParaRPr lang="en-US" sz="2639" u="none" dirty="0">
              <a:solidFill>
                <a:srgbClr val="0048CD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3695"/>
              </a:lnSpc>
            </a:pPr>
            <a:endParaRPr lang="en-US" sz="2639" u="none" dirty="0">
              <a:solidFill>
                <a:srgbClr val="0048CD"/>
              </a:solidFill>
              <a:latin typeface="Lato"/>
              <a:ea typeface="Lato"/>
              <a:cs typeface="Lato"/>
              <a:sym typeface="Lato"/>
            </a:endParaRPr>
          </a:p>
          <a:p>
            <a:pPr marL="569850" lvl="1" indent="-284925" algn="l">
              <a:lnSpc>
                <a:spcPts val="3695"/>
              </a:lnSpc>
              <a:buFont typeface="Arial"/>
              <a:buChar char="•"/>
            </a:pPr>
            <a:endParaRPr lang="en-US" sz="2639" u="none" dirty="0">
              <a:solidFill>
                <a:srgbClr val="0048C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81616" y="778353"/>
            <a:ext cx="7434230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1"/>
              </a:lnSpc>
            </a:pPr>
            <a:r>
              <a:rPr lang="en-US" sz="7029" b="1" spc="-70" dirty="0">
                <a:solidFill>
                  <a:srgbClr val="0048CD"/>
                </a:solidFill>
                <a:latin typeface="Muli Bold"/>
                <a:ea typeface="Muli Bold"/>
                <a:cs typeface="Muli Bold"/>
                <a:sym typeface="Muli Bold"/>
              </a:rPr>
              <a:t>Al </a:t>
            </a:r>
            <a:r>
              <a:rPr lang="en-US" sz="7029" b="1" spc="-70" dirty="0" err="1">
                <a:solidFill>
                  <a:srgbClr val="0048CD"/>
                </a:solidFill>
                <a:latin typeface="Muli Bold"/>
                <a:ea typeface="Muli Bold"/>
                <a:cs typeface="Muli Bold"/>
                <a:sym typeface="Muli Bold"/>
              </a:rPr>
              <a:t>terminar</a:t>
            </a:r>
            <a:r>
              <a:rPr lang="en-US" sz="7029" b="1" spc="-70" dirty="0">
                <a:solidFill>
                  <a:srgbClr val="0048CD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lang="en-US" sz="7029" b="1" spc="-70" dirty="0" err="1">
                <a:solidFill>
                  <a:srgbClr val="0048CD"/>
                </a:solidFill>
                <a:latin typeface="Muli Bold"/>
                <a:ea typeface="Muli Bold"/>
                <a:cs typeface="Muli Bold"/>
                <a:sym typeface="Muli Bold"/>
              </a:rPr>
              <a:t>toda</a:t>
            </a:r>
            <a:r>
              <a:rPr lang="en-US" sz="7029" b="1" spc="-70" dirty="0">
                <a:solidFill>
                  <a:srgbClr val="0048CD"/>
                </a:solidFill>
                <a:latin typeface="Muli Bold"/>
                <a:ea typeface="Muli Bold"/>
                <a:cs typeface="Muli Bold"/>
                <a:sym typeface="Muli Bold"/>
              </a:rPr>
              <a:t> la </a:t>
            </a:r>
            <a:r>
              <a:rPr lang="en-US" sz="7029" b="1" spc="-70" dirty="0" err="1">
                <a:solidFill>
                  <a:srgbClr val="0048CD"/>
                </a:solidFill>
                <a:latin typeface="Muli Bold"/>
                <a:ea typeface="Muli Bold"/>
                <a:cs typeface="Muli Bold"/>
                <a:sym typeface="Muli Bold"/>
              </a:rPr>
              <a:t>recepcion</a:t>
            </a:r>
            <a:endParaRPr lang="en-US" sz="7029" b="1" spc="-70" dirty="0">
              <a:solidFill>
                <a:srgbClr val="0048CD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12" name="Group 3">
            <a:extLst>
              <a:ext uri="{FF2B5EF4-FFF2-40B4-BE49-F238E27FC236}">
                <a16:creationId xmlns:a16="http://schemas.microsoft.com/office/drawing/2014/main" id="{40401C0C-7CA2-9C9B-0A30-10F4B5CA2CF8}"/>
              </a:ext>
            </a:extLst>
          </p:cNvPr>
          <p:cNvGrpSpPr/>
          <p:nvPr/>
        </p:nvGrpSpPr>
        <p:grpSpPr>
          <a:xfrm>
            <a:off x="20034" y="4080094"/>
            <a:ext cx="9836883" cy="9465511"/>
            <a:chOff x="0" y="-1949338"/>
            <a:chExt cx="2590784" cy="2492974"/>
          </a:xfrm>
        </p:grpSpPr>
        <p:sp>
          <p:nvSpPr>
            <p:cNvPr id="13" name="Freeform 4">
              <a:extLst>
                <a:ext uri="{FF2B5EF4-FFF2-40B4-BE49-F238E27FC236}">
                  <a16:creationId xmlns:a16="http://schemas.microsoft.com/office/drawing/2014/main" id="{4C4F9ACD-C258-5D7D-7E7D-806DF9C0C906}"/>
                </a:ext>
              </a:extLst>
            </p:cNvPr>
            <p:cNvSpPr/>
            <p:nvPr/>
          </p:nvSpPr>
          <p:spPr>
            <a:xfrm>
              <a:off x="106212" y="-1949338"/>
              <a:ext cx="2484572" cy="465437"/>
            </a:xfrm>
            <a:custGeom>
              <a:avLst/>
              <a:gdLst/>
              <a:ahLst/>
              <a:cxnLst/>
              <a:rect l="l" t="t" r="r" b="b"/>
              <a:pathLst>
                <a:path w="2566689" h="543636">
                  <a:moveTo>
                    <a:pt x="40515" y="0"/>
                  </a:moveTo>
                  <a:lnTo>
                    <a:pt x="2526174" y="0"/>
                  </a:lnTo>
                  <a:cubicBezTo>
                    <a:pt x="2536919" y="0"/>
                    <a:pt x="2547224" y="4269"/>
                    <a:pt x="2554822" y="11867"/>
                  </a:cubicBezTo>
                  <a:cubicBezTo>
                    <a:pt x="2562420" y="19465"/>
                    <a:pt x="2566689" y="29770"/>
                    <a:pt x="2566689" y="40515"/>
                  </a:cubicBezTo>
                  <a:lnTo>
                    <a:pt x="2566689" y="503121"/>
                  </a:lnTo>
                  <a:cubicBezTo>
                    <a:pt x="2566689" y="513866"/>
                    <a:pt x="2562420" y="524171"/>
                    <a:pt x="2554822" y="531769"/>
                  </a:cubicBezTo>
                  <a:cubicBezTo>
                    <a:pt x="2547224" y="539367"/>
                    <a:pt x="2536919" y="543636"/>
                    <a:pt x="2526174" y="543636"/>
                  </a:cubicBezTo>
                  <a:lnTo>
                    <a:pt x="40515" y="543636"/>
                  </a:lnTo>
                  <a:cubicBezTo>
                    <a:pt x="29770" y="543636"/>
                    <a:pt x="19465" y="539367"/>
                    <a:pt x="11867" y="531769"/>
                  </a:cubicBezTo>
                  <a:cubicBezTo>
                    <a:pt x="4269" y="524171"/>
                    <a:pt x="0" y="513866"/>
                    <a:pt x="0" y="503121"/>
                  </a:cubicBezTo>
                  <a:lnTo>
                    <a:pt x="0" y="40515"/>
                  </a:lnTo>
                  <a:cubicBezTo>
                    <a:pt x="0" y="29770"/>
                    <a:pt x="4269" y="19465"/>
                    <a:pt x="11867" y="11867"/>
                  </a:cubicBezTo>
                  <a:cubicBezTo>
                    <a:pt x="19465" y="4269"/>
                    <a:pt x="29770" y="0"/>
                    <a:pt x="405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8CD"/>
              </a:solidFill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s-PA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</a:rPr>
                <a:t>IMPORTANTE VERIFICAR  </a:t>
              </a:r>
              <a:r>
                <a:rPr lang="en-US" sz="1800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“Choose Expedition”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Debe </a:t>
              </a: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aparecer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sin </a:t>
              </a: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ninguna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caja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pendiente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Si </a:t>
              </a: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aparecen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cajas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pendientes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, </a:t>
              </a: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realizamos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la </a:t>
              </a: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siguiente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verficicacion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: 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Recibimos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la </a:t>
              </a: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caja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y </a:t>
              </a: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omitimos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“SAVE DOC” 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Falto </a:t>
              </a: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por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recibir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la </a:t>
              </a:r>
              <a:r>
                <a:rPr lang="en-US" b="1" dirty="0" err="1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caja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b="1" dirty="0">
                  <a:solidFill>
                    <a:srgbClr val="0048CD"/>
                  </a:solidFill>
                  <a:highlight>
                    <a:srgbClr val="FFFF00"/>
                  </a:highlight>
                  <a:latin typeface="Open Sans Bold"/>
                  <a:ea typeface="Open Sans Bold"/>
                  <a:cs typeface="Open Sans Bold"/>
                  <a:sym typeface="Open Sans Bold"/>
                </a:rPr>
                <a:t>La </a:t>
              </a:r>
              <a:r>
                <a:rPr lang="en-US" b="1" dirty="0" err="1">
                  <a:solidFill>
                    <a:srgbClr val="0048CD"/>
                  </a:solidFill>
                  <a:highlight>
                    <a:srgbClr val="FFFF00"/>
                  </a:highlight>
                  <a:latin typeface="Open Sans Bold"/>
                  <a:ea typeface="Open Sans Bold"/>
                  <a:cs typeface="Open Sans Bold"/>
                  <a:sym typeface="Open Sans Bold"/>
                </a:rPr>
                <a:t>caja</a:t>
              </a:r>
              <a:r>
                <a:rPr lang="en-US" b="1" dirty="0">
                  <a:solidFill>
                    <a:srgbClr val="0048CD"/>
                  </a:solidFill>
                  <a:highlight>
                    <a:srgbClr val="FFFF00"/>
                  </a:highlight>
                  <a:latin typeface="Open Sans Bold"/>
                  <a:ea typeface="Open Sans Bold"/>
                  <a:cs typeface="Open Sans Bold"/>
                  <a:sym typeface="Open Sans Bold"/>
                </a:rPr>
                <a:t> no </a:t>
              </a:r>
              <a:r>
                <a:rPr lang="en-US" b="1" dirty="0" err="1">
                  <a:solidFill>
                    <a:srgbClr val="0048CD"/>
                  </a:solidFill>
                  <a:highlight>
                    <a:srgbClr val="FFFF00"/>
                  </a:highlight>
                  <a:latin typeface="Open Sans Bold"/>
                  <a:ea typeface="Open Sans Bold"/>
                  <a:cs typeface="Open Sans Bold"/>
                  <a:sym typeface="Open Sans Bold"/>
                </a:rPr>
                <a:t>llego</a:t>
              </a:r>
              <a:r>
                <a:rPr lang="en-US" b="1" dirty="0">
                  <a:solidFill>
                    <a:srgbClr val="0048CD"/>
                  </a:solidFill>
                  <a:highlight>
                    <a:srgbClr val="FFFF00"/>
                  </a:highlight>
                  <a:latin typeface="Open Sans Bold"/>
                  <a:ea typeface="Open Sans Bold"/>
                  <a:cs typeface="Open Sans Bold"/>
                  <a:sym typeface="Open Sans Bold"/>
                </a:rPr>
                <a:t> a la tienda</a:t>
              </a:r>
              <a:r>
                <a:rPr lang="en-US" b="1" dirty="0">
                  <a:solidFill>
                    <a:srgbClr val="0048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.</a:t>
              </a:r>
            </a:p>
            <a:p>
              <a:pPr marL="342900" indent="-342900">
                <a:buFont typeface="+mj-lt"/>
                <a:buAutoNum type="arabicPeriod"/>
              </a:pPr>
              <a:endParaRPr lang="tr-TR" dirty="0"/>
            </a:p>
          </p:txBody>
        </p:sp>
        <p:sp>
          <p:nvSpPr>
            <p:cNvPr id="14" name="TextBox 5">
              <a:extLst>
                <a:ext uri="{FF2B5EF4-FFF2-40B4-BE49-F238E27FC236}">
                  <a16:creationId xmlns:a16="http://schemas.microsoft.com/office/drawing/2014/main" id="{D7EC5767-18A9-1C14-2D92-9F4731F70AC1}"/>
                </a:ext>
              </a:extLst>
            </p:cNvPr>
            <p:cNvSpPr txBox="1"/>
            <p:nvPr/>
          </p:nvSpPr>
          <p:spPr>
            <a:xfrm>
              <a:off x="0" y="-47625"/>
              <a:ext cx="2566689" cy="591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Freeform 6">
            <a:extLst>
              <a:ext uri="{FF2B5EF4-FFF2-40B4-BE49-F238E27FC236}">
                <a16:creationId xmlns:a16="http://schemas.microsoft.com/office/drawing/2014/main" id="{8BA7AD95-1AB5-019B-2D25-F47753F21D00}"/>
              </a:ext>
            </a:extLst>
          </p:cNvPr>
          <p:cNvSpPr/>
          <p:nvPr/>
        </p:nvSpPr>
        <p:spPr>
          <a:xfrm>
            <a:off x="8299224" y="4735379"/>
            <a:ext cx="1466207" cy="909908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8F082B7-BFEE-30C8-7979-D147FB53D4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5222" y="6093179"/>
            <a:ext cx="7773949" cy="4464067"/>
          </a:xfrm>
          <a:prstGeom prst="rect">
            <a:avLst/>
          </a:prstGeom>
        </p:spPr>
      </p:pic>
      <p:grpSp>
        <p:nvGrpSpPr>
          <p:cNvPr id="18" name="Group 7">
            <a:extLst>
              <a:ext uri="{FF2B5EF4-FFF2-40B4-BE49-F238E27FC236}">
                <a16:creationId xmlns:a16="http://schemas.microsoft.com/office/drawing/2014/main" id="{36E4E66B-4D98-125B-E412-12D5277C6214}"/>
              </a:ext>
            </a:extLst>
          </p:cNvPr>
          <p:cNvGrpSpPr/>
          <p:nvPr/>
        </p:nvGrpSpPr>
        <p:grpSpPr>
          <a:xfrm>
            <a:off x="520688" y="6462311"/>
            <a:ext cx="675050" cy="778565"/>
            <a:chOff x="0" y="0"/>
            <a:chExt cx="698500" cy="812800"/>
          </a:xfrm>
        </p:grpSpPr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C4FE9F98-06BB-B1AE-C812-E7FAE89DF457}"/>
                </a:ext>
              </a:extLst>
            </p:cNvPr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8CD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20" name="TextBox 9">
              <a:extLst>
                <a:ext uri="{FF2B5EF4-FFF2-40B4-BE49-F238E27FC236}">
                  <a16:creationId xmlns:a16="http://schemas.microsoft.com/office/drawing/2014/main" id="{E3274D6A-828E-E7F1-E656-1DA92EBFDB20}"/>
                </a:ext>
              </a:extLst>
            </p:cNvPr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1" name="AutoShape 10">
            <a:extLst>
              <a:ext uri="{FF2B5EF4-FFF2-40B4-BE49-F238E27FC236}">
                <a16:creationId xmlns:a16="http://schemas.microsoft.com/office/drawing/2014/main" id="{6AAEB4FE-82A2-75A1-74E7-A10B17BAB1ED}"/>
              </a:ext>
            </a:extLst>
          </p:cNvPr>
          <p:cNvSpPr/>
          <p:nvPr/>
        </p:nvSpPr>
        <p:spPr>
          <a:xfrm flipV="1">
            <a:off x="681835" y="6972456"/>
            <a:ext cx="675050" cy="0"/>
          </a:xfrm>
          <a:prstGeom prst="line">
            <a:avLst/>
          </a:prstGeom>
          <a:ln w="85725" cap="flat">
            <a:solidFill>
              <a:srgbClr val="0048C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A80E511-F600-5227-8D29-9B208F4F600E}"/>
              </a:ext>
            </a:extLst>
          </p:cNvPr>
          <p:cNvSpPr txBox="1"/>
          <p:nvPr/>
        </p:nvSpPr>
        <p:spPr>
          <a:xfrm>
            <a:off x="700057" y="6653100"/>
            <a:ext cx="54068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dirty="0">
                <a:solidFill>
                  <a:schemeClr val="bg1"/>
                </a:solidFill>
              </a:rPr>
              <a:t>1.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BCDC147A-2450-AC33-B6E8-388F1D9098B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9999" t="10493" r="14815" b="39465"/>
          <a:stretch/>
        </p:blipFill>
        <p:spPr>
          <a:xfrm>
            <a:off x="1354213" y="11466449"/>
            <a:ext cx="7773949" cy="3316351"/>
          </a:xfrm>
          <a:prstGeom prst="rect">
            <a:avLst/>
          </a:prstGeom>
        </p:spPr>
      </p:pic>
      <p:sp>
        <p:nvSpPr>
          <p:cNvPr id="32" name="Freeform 10">
            <a:extLst>
              <a:ext uri="{FF2B5EF4-FFF2-40B4-BE49-F238E27FC236}">
                <a16:creationId xmlns:a16="http://schemas.microsoft.com/office/drawing/2014/main" id="{9B1BB7D7-5A96-6F12-F15C-09A1A6DE1DD8}"/>
              </a:ext>
            </a:extLst>
          </p:cNvPr>
          <p:cNvSpPr/>
          <p:nvPr/>
        </p:nvSpPr>
        <p:spPr>
          <a:xfrm>
            <a:off x="1500323" y="15468600"/>
            <a:ext cx="7279577" cy="1358958"/>
          </a:xfrm>
          <a:custGeom>
            <a:avLst/>
            <a:gdLst/>
            <a:ahLst/>
            <a:cxnLst/>
            <a:rect l="l" t="t" r="r" b="b"/>
            <a:pathLst>
              <a:path w="8322031" h="2090910">
                <a:moveTo>
                  <a:pt x="0" y="0"/>
                </a:moveTo>
                <a:lnTo>
                  <a:pt x="8322031" y="0"/>
                </a:lnTo>
                <a:lnTo>
                  <a:pt x="8322031" y="2090910"/>
                </a:lnTo>
                <a:lnTo>
                  <a:pt x="0" y="20909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DF438F9-B7ED-E516-8F11-679DD5D1CC9E}"/>
              </a:ext>
            </a:extLst>
          </p:cNvPr>
          <p:cNvSpPr txBox="1"/>
          <p:nvPr/>
        </p:nvSpPr>
        <p:spPr>
          <a:xfrm>
            <a:off x="6639979" y="15668365"/>
            <a:ext cx="198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Bold"/>
                <a:ea typeface="Open Sans Bold"/>
                <a:cs typeface="Open Sans Bold"/>
                <a:sym typeface="Open Sans Bold"/>
              </a:rPr>
              <a:t>Recibimos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Bold"/>
                <a:ea typeface="Open Sans Bold"/>
                <a:cs typeface="Open Sans Bold"/>
                <a:sym typeface="Open Sans Bold"/>
              </a:rPr>
              <a:t> la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Bold"/>
                <a:ea typeface="Open Sans Bold"/>
                <a:cs typeface="Open Sans Bold"/>
                <a:sym typeface="Open Sans Bold"/>
              </a:rPr>
              <a:t>caja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Bold"/>
                <a:ea typeface="Open Sans Bold"/>
                <a:cs typeface="Open Sans Bold"/>
                <a:sym typeface="Open Sans Bold"/>
              </a:rPr>
              <a:t> y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Bold"/>
                <a:ea typeface="Open Sans Bold"/>
                <a:cs typeface="Open Sans Bold"/>
                <a:sym typeface="Open Sans Bold"/>
              </a:rPr>
              <a:t>omitimos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Bold"/>
                <a:ea typeface="Open Sans Bold"/>
                <a:cs typeface="Open Sans Bold"/>
                <a:sym typeface="Open Sans Bold"/>
              </a:rPr>
              <a:t> “SAVE DOC” </a:t>
            </a:r>
          </a:p>
          <a:p>
            <a:endParaRPr lang="es-PA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63C0B26-6A59-1C30-16B6-7E5B23278818}"/>
              </a:ext>
            </a:extLst>
          </p:cNvPr>
          <p:cNvSpPr txBox="1"/>
          <p:nvPr/>
        </p:nvSpPr>
        <p:spPr>
          <a:xfrm>
            <a:off x="4280588" y="15787814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Falto </a:t>
            </a:r>
            <a:r>
              <a:rPr lang="en-US" b="1" dirty="0" err="1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</a:t>
            </a:r>
            <a:r>
              <a:rPr lang="en-US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recibir</a:t>
            </a:r>
            <a:r>
              <a:rPr lang="en-US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la </a:t>
            </a:r>
            <a:r>
              <a:rPr lang="en-US" b="1" dirty="0" err="1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caja</a:t>
            </a:r>
            <a:r>
              <a:rPr lang="en-US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endParaRPr lang="es-PA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A128C30-D40E-F084-74ED-2A42DFCA11E5}"/>
              </a:ext>
            </a:extLst>
          </p:cNvPr>
          <p:cNvSpPr txBox="1"/>
          <p:nvPr/>
        </p:nvSpPr>
        <p:spPr>
          <a:xfrm>
            <a:off x="1915747" y="15657259"/>
            <a:ext cx="18449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</a:t>
            </a:r>
            <a:r>
              <a:rPr lang="en-US" b="1" dirty="0" err="1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caja</a:t>
            </a:r>
            <a:r>
              <a:rPr lang="en-US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no </a:t>
            </a:r>
            <a:r>
              <a:rPr lang="en-US" b="1" dirty="0" err="1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llego</a:t>
            </a:r>
            <a:r>
              <a:rPr lang="en-US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 la tienda</a:t>
            </a:r>
            <a:endParaRPr lang="es-PA" dirty="0">
              <a:solidFill>
                <a:schemeClr val="bg1"/>
              </a:solidFill>
            </a:endParaRPr>
          </a:p>
        </p:txBody>
      </p:sp>
      <p:sp>
        <p:nvSpPr>
          <p:cNvPr id="37" name="AutoShape 11">
            <a:extLst>
              <a:ext uri="{FF2B5EF4-FFF2-40B4-BE49-F238E27FC236}">
                <a16:creationId xmlns:a16="http://schemas.microsoft.com/office/drawing/2014/main" id="{0426E7EA-A378-7A81-91C6-BE4F0A6BD37C}"/>
              </a:ext>
            </a:extLst>
          </p:cNvPr>
          <p:cNvSpPr/>
          <p:nvPr/>
        </p:nvSpPr>
        <p:spPr>
          <a:xfrm flipH="1" flipV="1">
            <a:off x="5347337" y="14735886"/>
            <a:ext cx="914366" cy="1010792"/>
          </a:xfrm>
          <a:prstGeom prst="line">
            <a:avLst/>
          </a:prstGeom>
          <a:ln w="38100" cap="flat">
            <a:solidFill>
              <a:schemeClr val="accent1">
                <a:lumMod val="60000"/>
                <a:lumOff val="40000"/>
              </a:scheme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r-TR"/>
          </a:p>
        </p:txBody>
      </p:sp>
      <p:sp>
        <p:nvSpPr>
          <p:cNvPr id="38" name="AutoShape 11">
            <a:extLst>
              <a:ext uri="{FF2B5EF4-FFF2-40B4-BE49-F238E27FC236}">
                <a16:creationId xmlns:a16="http://schemas.microsoft.com/office/drawing/2014/main" id="{52A8531F-7201-F265-333B-87C4D35CD548}"/>
              </a:ext>
            </a:extLst>
          </p:cNvPr>
          <p:cNvSpPr/>
          <p:nvPr/>
        </p:nvSpPr>
        <p:spPr>
          <a:xfrm flipV="1">
            <a:off x="4016595" y="14565796"/>
            <a:ext cx="1123810" cy="1180881"/>
          </a:xfrm>
          <a:prstGeom prst="line">
            <a:avLst/>
          </a:prstGeom>
          <a:ln w="38100" cap="flat">
            <a:solidFill>
              <a:schemeClr val="tx2">
                <a:lumMod val="60000"/>
                <a:lumOff val="40000"/>
              </a:scheme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r-TR"/>
          </a:p>
        </p:txBody>
      </p:sp>
      <p:sp>
        <p:nvSpPr>
          <p:cNvPr id="39" name="AutoShape 11">
            <a:extLst>
              <a:ext uri="{FF2B5EF4-FFF2-40B4-BE49-F238E27FC236}">
                <a16:creationId xmlns:a16="http://schemas.microsoft.com/office/drawing/2014/main" id="{736C349E-36C8-C5E8-D211-35E7C0B0066D}"/>
              </a:ext>
            </a:extLst>
          </p:cNvPr>
          <p:cNvSpPr/>
          <p:nvPr/>
        </p:nvSpPr>
        <p:spPr>
          <a:xfrm flipV="1">
            <a:off x="3215719" y="14436495"/>
            <a:ext cx="1875671" cy="1069928"/>
          </a:xfrm>
          <a:prstGeom prst="line">
            <a:avLst/>
          </a:prstGeom>
          <a:ln w="38100" cap="flat">
            <a:solidFill>
              <a:srgbClr val="0048CD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8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6568" y="407226"/>
            <a:ext cx="9513865" cy="17473551"/>
            <a:chOff x="0" y="0"/>
            <a:chExt cx="2242926" cy="41194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2926" cy="4119449"/>
            </a:xfrm>
            <a:custGeom>
              <a:avLst/>
              <a:gdLst/>
              <a:ahLst/>
              <a:cxnLst/>
              <a:rect l="l" t="t" r="r" b="b"/>
              <a:pathLst>
                <a:path w="2242926" h="4119449">
                  <a:moveTo>
                    <a:pt x="2118466" y="4119448"/>
                  </a:moveTo>
                  <a:lnTo>
                    <a:pt x="124460" y="4119448"/>
                  </a:lnTo>
                  <a:cubicBezTo>
                    <a:pt x="55880" y="4119448"/>
                    <a:pt x="0" y="4063568"/>
                    <a:pt x="0" y="399498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18466" y="0"/>
                  </a:lnTo>
                  <a:cubicBezTo>
                    <a:pt x="2187046" y="0"/>
                    <a:pt x="2242926" y="55880"/>
                    <a:pt x="2242926" y="124460"/>
                  </a:cubicBezTo>
                  <a:lnTo>
                    <a:pt x="2242926" y="3994988"/>
                  </a:lnTo>
                  <a:cubicBezTo>
                    <a:pt x="2242926" y="4063568"/>
                    <a:pt x="2187046" y="4119449"/>
                    <a:pt x="2118466" y="411944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r-TR"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81616" y="778353"/>
            <a:ext cx="7434230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1"/>
              </a:lnSpc>
            </a:pPr>
            <a:r>
              <a:rPr lang="en-US" sz="7200" b="1" dirty="0">
                <a:solidFill>
                  <a:srgbClr val="0048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</a:t>
            </a:r>
            <a:r>
              <a:rPr lang="en-US" sz="7200" b="1" dirty="0" err="1">
                <a:solidFill>
                  <a:srgbClr val="0048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caja</a:t>
            </a:r>
            <a:r>
              <a:rPr lang="en-US" sz="7200" b="1" dirty="0">
                <a:solidFill>
                  <a:srgbClr val="0048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no </a:t>
            </a:r>
            <a:r>
              <a:rPr lang="en-US" sz="7200" b="1" dirty="0" err="1">
                <a:solidFill>
                  <a:srgbClr val="0048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llego</a:t>
            </a:r>
            <a:r>
              <a:rPr lang="en-US" sz="7200" b="1" dirty="0">
                <a:solidFill>
                  <a:srgbClr val="0048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 la tienda </a:t>
            </a:r>
            <a:endParaRPr lang="en-US" sz="7029" b="1" spc="-70" dirty="0">
              <a:solidFill>
                <a:srgbClr val="0048CD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9" name="Group 7">
            <a:extLst>
              <a:ext uri="{FF2B5EF4-FFF2-40B4-BE49-F238E27FC236}">
                <a16:creationId xmlns:a16="http://schemas.microsoft.com/office/drawing/2014/main" id="{7EEEAE33-A7E8-A641-4FB3-79376ABD7E4F}"/>
              </a:ext>
            </a:extLst>
          </p:cNvPr>
          <p:cNvGrpSpPr/>
          <p:nvPr/>
        </p:nvGrpSpPr>
        <p:grpSpPr>
          <a:xfrm>
            <a:off x="651184" y="3840596"/>
            <a:ext cx="880199" cy="903096"/>
            <a:chOff x="0" y="0"/>
            <a:chExt cx="792192" cy="812800"/>
          </a:xfrm>
        </p:grpSpPr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218CA059-C341-C95B-5EBC-6CCDCEA5E36D}"/>
                </a:ext>
              </a:extLst>
            </p:cNvPr>
            <p:cNvSpPr/>
            <p:nvPr/>
          </p:nvSpPr>
          <p:spPr>
            <a:xfrm>
              <a:off x="93692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8CD"/>
            </a:solidFill>
          </p:spPr>
          <p:txBody>
            <a:bodyPr/>
            <a:lstStyle/>
            <a:p>
              <a:endParaRPr lang="en-US" dirty="0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5565A82E-DEE5-77BF-F807-02F5B6A6765C}"/>
                </a:ext>
              </a:extLst>
            </p:cNvPr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AutoShape 10">
            <a:extLst>
              <a:ext uri="{FF2B5EF4-FFF2-40B4-BE49-F238E27FC236}">
                <a16:creationId xmlns:a16="http://schemas.microsoft.com/office/drawing/2014/main" id="{4257A9B4-642A-3CF4-E676-2F0E94060958}"/>
              </a:ext>
            </a:extLst>
          </p:cNvPr>
          <p:cNvSpPr/>
          <p:nvPr/>
        </p:nvSpPr>
        <p:spPr>
          <a:xfrm>
            <a:off x="1193115" y="4292144"/>
            <a:ext cx="1752600" cy="1"/>
          </a:xfrm>
          <a:prstGeom prst="line">
            <a:avLst/>
          </a:prstGeom>
          <a:ln w="85725" cap="flat">
            <a:solidFill>
              <a:srgbClr val="0048C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algn="ctr">
              <a:lnSpc>
                <a:spcPts val="3758"/>
              </a:lnSpc>
            </a:pPr>
            <a:endParaRPr lang="en-US" sz="1800" dirty="0">
              <a:solidFill>
                <a:srgbClr val="E9E9E9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F7C736BD-2072-7484-83D4-794CDB163F75}"/>
              </a:ext>
            </a:extLst>
          </p:cNvPr>
          <p:cNvGrpSpPr/>
          <p:nvPr/>
        </p:nvGrpSpPr>
        <p:grpSpPr>
          <a:xfrm>
            <a:off x="2069415" y="3840596"/>
            <a:ext cx="7188885" cy="903096"/>
            <a:chOff x="0" y="0"/>
            <a:chExt cx="1893369" cy="237852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39B2DF7-349E-1275-C7FB-9B86F181C2F5}"/>
                </a:ext>
              </a:extLst>
            </p:cNvPr>
            <p:cNvSpPr/>
            <p:nvPr/>
          </p:nvSpPr>
          <p:spPr>
            <a:xfrm>
              <a:off x="0" y="0"/>
              <a:ext cx="1893369" cy="237852"/>
            </a:xfrm>
            <a:custGeom>
              <a:avLst/>
              <a:gdLst/>
              <a:ahLst/>
              <a:cxnLst/>
              <a:rect l="l" t="t" r="r" b="b"/>
              <a:pathLst>
                <a:path w="1893369" h="237852">
                  <a:moveTo>
                    <a:pt x="54923" y="0"/>
                  </a:moveTo>
                  <a:lnTo>
                    <a:pt x="1838445" y="0"/>
                  </a:lnTo>
                  <a:cubicBezTo>
                    <a:pt x="1853012" y="0"/>
                    <a:pt x="1866982" y="5787"/>
                    <a:pt x="1877282" y="16087"/>
                  </a:cubicBezTo>
                  <a:cubicBezTo>
                    <a:pt x="1887582" y="26387"/>
                    <a:pt x="1893369" y="40357"/>
                    <a:pt x="1893369" y="54923"/>
                  </a:cubicBezTo>
                  <a:lnTo>
                    <a:pt x="1893369" y="182929"/>
                  </a:lnTo>
                  <a:cubicBezTo>
                    <a:pt x="1893369" y="197496"/>
                    <a:pt x="1887582" y="211466"/>
                    <a:pt x="1877282" y="221766"/>
                  </a:cubicBezTo>
                  <a:cubicBezTo>
                    <a:pt x="1866982" y="232066"/>
                    <a:pt x="1853012" y="237852"/>
                    <a:pt x="1838445" y="237852"/>
                  </a:cubicBezTo>
                  <a:lnTo>
                    <a:pt x="54923" y="237852"/>
                  </a:lnTo>
                  <a:cubicBezTo>
                    <a:pt x="40357" y="237852"/>
                    <a:pt x="26387" y="232066"/>
                    <a:pt x="16087" y="221766"/>
                  </a:cubicBezTo>
                  <a:cubicBezTo>
                    <a:pt x="5787" y="211466"/>
                    <a:pt x="0" y="197496"/>
                    <a:pt x="0" y="182929"/>
                  </a:cubicBezTo>
                  <a:lnTo>
                    <a:pt x="0" y="54923"/>
                  </a:lnTo>
                  <a:cubicBezTo>
                    <a:pt x="0" y="40357"/>
                    <a:pt x="5787" y="26387"/>
                    <a:pt x="16087" y="16087"/>
                  </a:cubicBezTo>
                  <a:cubicBezTo>
                    <a:pt x="26387" y="5787"/>
                    <a:pt x="40357" y="0"/>
                    <a:pt x="54923" y="0"/>
                  </a:cubicBezTo>
                  <a:close/>
                </a:path>
              </a:pathLst>
            </a:custGeom>
            <a:solidFill>
              <a:srgbClr val="0048CD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DCB77E7A-4691-F472-B7D2-DE9042B79FE9}"/>
                </a:ext>
              </a:extLst>
            </p:cNvPr>
            <p:cNvSpPr txBox="1"/>
            <p:nvPr/>
          </p:nvSpPr>
          <p:spPr>
            <a:xfrm>
              <a:off x="0" y="-47625"/>
              <a:ext cx="1893369" cy="285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2EDEDB9-9635-16E4-BAA8-84D23B2EED47}"/>
              </a:ext>
            </a:extLst>
          </p:cNvPr>
          <p:cNvSpPr txBox="1"/>
          <p:nvPr/>
        </p:nvSpPr>
        <p:spPr>
          <a:xfrm>
            <a:off x="2618890" y="4107478"/>
            <a:ext cx="64770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1900" b="1" dirty="0" err="1">
                <a:solidFill>
                  <a:srgbClr val="E9E9E9"/>
                </a:solidFill>
                <a:latin typeface="Open Sans Bold"/>
                <a:ea typeface="Open Sans Bold"/>
                <a:cs typeface="Open Sans Bold"/>
              </a:rPr>
              <a:t>Warehouse</a:t>
            </a:r>
            <a:r>
              <a:rPr lang="es-PA" sz="1900" b="1" dirty="0">
                <a:solidFill>
                  <a:srgbClr val="E9E9E9"/>
                </a:solidFill>
                <a:latin typeface="Open Sans Bold"/>
                <a:ea typeface="Open Sans Bold"/>
                <a:cs typeface="Open Sans Bold"/>
              </a:rPr>
              <a:t>, abrir la caja que no llego a la tienda.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126092D-A323-4EE5-D1E9-42568C06B036}"/>
              </a:ext>
            </a:extLst>
          </p:cNvPr>
          <p:cNvSpPr txBox="1"/>
          <p:nvPr/>
        </p:nvSpPr>
        <p:spPr>
          <a:xfrm>
            <a:off x="-1584826" y="3922847"/>
            <a:ext cx="5456320" cy="527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758"/>
              </a:lnSpc>
            </a:pPr>
            <a:r>
              <a:rPr lang="en-US" sz="1800" dirty="0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1.</a:t>
            </a:r>
          </a:p>
        </p:txBody>
      </p:sp>
      <p:grpSp>
        <p:nvGrpSpPr>
          <p:cNvPr id="19" name="Group 7">
            <a:extLst>
              <a:ext uri="{FF2B5EF4-FFF2-40B4-BE49-F238E27FC236}">
                <a16:creationId xmlns:a16="http://schemas.microsoft.com/office/drawing/2014/main" id="{C2803428-2930-0DA9-C2F6-85B9216B1C13}"/>
              </a:ext>
            </a:extLst>
          </p:cNvPr>
          <p:cNvGrpSpPr/>
          <p:nvPr/>
        </p:nvGrpSpPr>
        <p:grpSpPr>
          <a:xfrm>
            <a:off x="651184" y="5006770"/>
            <a:ext cx="880199" cy="903096"/>
            <a:chOff x="0" y="0"/>
            <a:chExt cx="792192" cy="812800"/>
          </a:xfrm>
        </p:grpSpPr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E33F939-9FE9-2350-B492-193F71D06A17}"/>
                </a:ext>
              </a:extLst>
            </p:cNvPr>
            <p:cNvSpPr/>
            <p:nvPr/>
          </p:nvSpPr>
          <p:spPr>
            <a:xfrm>
              <a:off x="93692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8CD"/>
            </a:solidFill>
          </p:spPr>
          <p:txBody>
            <a:bodyPr/>
            <a:lstStyle/>
            <a:p>
              <a:endParaRPr lang="en-US" dirty="0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436E6ED2-81A0-0AB2-C122-D666B7AD3DF7}"/>
                </a:ext>
              </a:extLst>
            </p:cNvPr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2" name="AutoShape 17">
            <a:extLst>
              <a:ext uri="{FF2B5EF4-FFF2-40B4-BE49-F238E27FC236}">
                <a16:creationId xmlns:a16="http://schemas.microsoft.com/office/drawing/2014/main" id="{C47211F7-F1DC-BC17-5213-B3802D2DB303}"/>
              </a:ext>
            </a:extLst>
          </p:cNvPr>
          <p:cNvSpPr/>
          <p:nvPr/>
        </p:nvSpPr>
        <p:spPr>
          <a:xfrm>
            <a:off x="807335" y="5410200"/>
            <a:ext cx="1633905" cy="0"/>
          </a:xfrm>
          <a:prstGeom prst="line">
            <a:avLst/>
          </a:prstGeom>
          <a:ln w="85725" cap="flat">
            <a:solidFill>
              <a:srgbClr val="0048C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algn="ctr">
              <a:lnSpc>
                <a:spcPts val="3758"/>
              </a:lnSpc>
            </a:pPr>
            <a:r>
              <a:rPr lang="en-US" sz="1800" dirty="0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grpSp>
        <p:nvGrpSpPr>
          <p:cNvPr id="23" name="Group 4">
            <a:extLst>
              <a:ext uri="{FF2B5EF4-FFF2-40B4-BE49-F238E27FC236}">
                <a16:creationId xmlns:a16="http://schemas.microsoft.com/office/drawing/2014/main" id="{BB7D2508-EE3E-762C-E9C6-9F2A1C29BF84}"/>
              </a:ext>
            </a:extLst>
          </p:cNvPr>
          <p:cNvGrpSpPr/>
          <p:nvPr/>
        </p:nvGrpSpPr>
        <p:grpSpPr>
          <a:xfrm>
            <a:off x="2069415" y="4924519"/>
            <a:ext cx="7188885" cy="903096"/>
            <a:chOff x="0" y="0"/>
            <a:chExt cx="1893369" cy="237852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834596B7-DFF2-6EA2-FF2B-4C4B11B95262}"/>
                </a:ext>
              </a:extLst>
            </p:cNvPr>
            <p:cNvSpPr/>
            <p:nvPr/>
          </p:nvSpPr>
          <p:spPr>
            <a:xfrm>
              <a:off x="0" y="0"/>
              <a:ext cx="1893369" cy="237852"/>
            </a:xfrm>
            <a:custGeom>
              <a:avLst/>
              <a:gdLst/>
              <a:ahLst/>
              <a:cxnLst/>
              <a:rect l="l" t="t" r="r" b="b"/>
              <a:pathLst>
                <a:path w="1893369" h="237852">
                  <a:moveTo>
                    <a:pt x="54923" y="0"/>
                  </a:moveTo>
                  <a:lnTo>
                    <a:pt x="1838445" y="0"/>
                  </a:lnTo>
                  <a:cubicBezTo>
                    <a:pt x="1853012" y="0"/>
                    <a:pt x="1866982" y="5787"/>
                    <a:pt x="1877282" y="16087"/>
                  </a:cubicBezTo>
                  <a:cubicBezTo>
                    <a:pt x="1887582" y="26387"/>
                    <a:pt x="1893369" y="40357"/>
                    <a:pt x="1893369" y="54923"/>
                  </a:cubicBezTo>
                  <a:lnTo>
                    <a:pt x="1893369" y="182929"/>
                  </a:lnTo>
                  <a:cubicBezTo>
                    <a:pt x="1893369" y="197496"/>
                    <a:pt x="1887582" y="211466"/>
                    <a:pt x="1877282" y="221766"/>
                  </a:cubicBezTo>
                  <a:cubicBezTo>
                    <a:pt x="1866982" y="232066"/>
                    <a:pt x="1853012" y="237852"/>
                    <a:pt x="1838445" y="237852"/>
                  </a:cubicBezTo>
                  <a:lnTo>
                    <a:pt x="54923" y="237852"/>
                  </a:lnTo>
                  <a:cubicBezTo>
                    <a:pt x="40357" y="237852"/>
                    <a:pt x="26387" y="232066"/>
                    <a:pt x="16087" y="221766"/>
                  </a:cubicBezTo>
                  <a:cubicBezTo>
                    <a:pt x="5787" y="211466"/>
                    <a:pt x="0" y="197496"/>
                    <a:pt x="0" y="182929"/>
                  </a:cubicBezTo>
                  <a:lnTo>
                    <a:pt x="0" y="54923"/>
                  </a:lnTo>
                  <a:cubicBezTo>
                    <a:pt x="0" y="40357"/>
                    <a:pt x="5787" y="26387"/>
                    <a:pt x="16087" y="16087"/>
                  </a:cubicBezTo>
                  <a:cubicBezTo>
                    <a:pt x="26387" y="5787"/>
                    <a:pt x="40357" y="0"/>
                    <a:pt x="54923" y="0"/>
                  </a:cubicBezTo>
                  <a:close/>
                </a:path>
              </a:pathLst>
            </a:custGeom>
            <a:solidFill>
              <a:srgbClr val="0048CD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25" name="TextBox 6">
              <a:extLst>
                <a:ext uri="{FF2B5EF4-FFF2-40B4-BE49-F238E27FC236}">
                  <a16:creationId xmlns:a16="http://schemas.microsoft.com/office/drawing/2014/main" id="{9362CD7D-F19D-FF56-7D56-1AE1D237A5EC}"/>
                </a:ext>
              </a:extLst>
            </p:cNvPr>
            <p:cNvSpPr txBox="1"/>
            <p:nvPr/>
          </p:nvSpPr>
          <p:spPr>
            <a:xfrm>
              <a:off x="0" y="-47625"/>
              <a:ext cx="1893369" cy="285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66269B8-3310-ED23-081E-DEBAD242BCD5}"/>
              </a:ext>
            </a:extLst>
          </p:cNvPr>
          <p:cNvSpPr txBox="1"/>
          <p:nvPr/>
        </p:nvSpPr>
        <p:spPr>
          <a:xfrm>
            <a:off x="-1825458" y="5089476"/>
            <a:ext cx="5937584" cy="527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758"/>
              </a:lnSpc>
            </a:pPr>
            <a:r>
              <a:rPr lang="en-US" sz="1800" dirty="0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2.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1DE89E1-9813-6D57-F870-0F5DA73D46AB}"/>
              </a:ext>
            </a:extLst>
          </p:cNvPr>
          <p:cNvSpPr txBox="1"/>
          <p:nvPr/>
        </p:nvSpPr>
        <p:spPr>
          <a:xfrm>
            <a:off x="2324100" y="5131761"/>
            <a:ext cx="6705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1900" b="1" dirty="0">
                <a:solidFill>
                  <a:srgbClr val="E9E9E9"/>
                </a:solidFill>
                <a:latin typeface="Open Sans Bold"/>
                <a:ea typeface="Open Sans Bold"/>
                <a:cs typeface="Open Sans Bold"/>
              </a:rPr>
              <a:t>Escanear piezas sobrantes y dejar en 0 las piezas que no llegaron.</a:t>
            </a:r>
          </a:p>
        </p:txBody>
      </p:sp>
      <p:grpSp>
        <p:nvGrpSpPr>
          <p:cNvPr id="29" name="Group 7">
            <a:extLst>
              <a:ext uri="{FF2B5EF4-FFF2-40B4-BE49-F238E27FC236}">
                <a16:creationId xmlns:a16="http://schemas.microsoft.com/office/drawing/2014/main" id="{49E084B4-C17D-B96A-0CDA-E57C4C42AA98}"/>
              </a:ext>
            </a:extLst>
          </p:cNvPr>
          <p:cNvGrpSpPr/>
          <p:nvPr/>
        </p:nvGrpSpPr>
        <p:grpSpPr>
          <a:xfrm>
            <a:off x="651184" y="6073910"/>
            <a:ext cx="880199" cy="903096"/>
            <a:chOff x="0" y="0"/>
            <a:chExt cx="792192" cy="812800"/>
          </a:xfrm>
        </p:grpSpPr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DBD1F5E0-F9C7-3423-00F4-910047FD3934}"/>
                </a:ext>
              </a:extLst>
            </p:cNvPr>
            <p:cNvSpPr/>
            <p:nvPr/>
          </p:nvSpPr>
          <p:spPr>
            <a:xfrm>
              <a:off x="93692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8CD"/>
            </a:solidFill>
          </p:spPr>
          <p:txBody>
            <a:bodyPr/>
            <a:lstStyle/>
            <a:p>
              <a:endParaRPr lang="en-US" dirty="0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  <p:sp>
          <p:nvSpPr>
            <p:cNvPr id="31" name="TextBox 9">
              <a:extLst>
                <a:ext uri="{FF2B5EF4-FFF2-40B4-BE49-F238E27FC236}">
                  <a16:creationId xmlns:a16="http://schemas.microsoft.com/office/drawing/2014/main" id="{9AC42134-6F6B-5C4E-1C14-A1C5A08209D3}"/>
                </a:ext>
              </a:extLst>
            </p:cNvPr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2" name="AutoShape 24">
            <a:extLst>
              <a:ext uri="{FF2B5EF4-FFF2-40B4-BE49-F238E27FC236}">
                <a16:creationId xmlns:a16="http://schemas.microsoft.com/office/drawing/2014/main" id="{F18F0A7C-7CB7-0BF3-FC45-3F9FCC8184E0}"/>
              </a:ext>
            </a:extLst>
          </p:cNvPr>
          <p:cNvSpPr/>
          <p:nvPr/>
        </p:nvSpPr>
        <p:spPr>
          <a:xfrm>
            <a:off x="1193115" y="6477000"/>
            <a:ext cx="1633905" cy="0"/>
          </a:xfrm>
          <a:prstGeom prst="line">
            <a:avLst/>
          </a:prstGeom>
          <a:ln w="85725" cap="flat">
            <a:solidFill>
              <a:srgbClr val="0048C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grpSp>
        <p:nvGrpSpPr>
          <p:cNvPr id="33" name="Group 4">
            <a:extLst>
              <a:ext uri="{FF2B5EF4-FFF2-40B4-BE49-F238E27FC236}">
                <a16:creationId xmlns:a16="http://schemas.microsoft.com/office/drawing/2014/main" id="{9956E548-B47F-C8BE-3D89-880F7E3F0AEF}"/>
              </a:ext>
            </a:extLst>
          </p:cNvPr>
          <p:cNvGrpSpPr/>
          <p:nvPr/>
        </p:nvGrpSpPr>
        <p:grpSpPr>
          <a:xfrm>
            <a:off x="2069414" y="6053377"/>
            <a:ext cx="7188885" cy="1203322"/>
            <a:chOff x="0" y="0"/>
            <a:chExt cx="1893369" cy="237852"/>
          </a:xfrm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AB426DA0-B617-A448-D337-60D7561189F9}"/>
                </a:ext>
              </a:extLst>
            </p:cNvPr>
            <p:cNvSpPr/>
            <p:nvPr/>
          </p:nvSpPr>
          <p:spPr>
            <a:xfrm>
              <a:off x="0" y="0"/>
              <a:ext cx="1893369" cy="237852"/>
            </a:xfrm>
            <a:custGeom>
              <a:avLst/>
              <a:gdLst/>
              <a:ahLst/>
              <a:cxnLst/>
              <a:rect l="l" t="t" r="r" b="b"/>
              <a:pathLst>
                <a:path w="1893369" h="237852">
                  <a:moveTo>
                    <a:pt x="54923" y="0"/>
                  </a:moveTo>
                  <a:lnTo>
                    <a:pt x="1838445" y="0"/>
                  </a:lnTo>
                  <a:cubicBezTo>
                    <a:pt x="1853012" y="0"/>
                    <a:pt x="1866982" y="5787"/>
                    <a:pt x="1877282" y="16087"/>
                  </a:cubicBezTo>
                  <a:cubicBezTo>
                    <a:pt x="1887582" y="26387"/>
                    <a:pt x="1893369" y="40357"/>
                    <a:pt x="1893369" y="54923"/>
                  </a:cubicBezTo>
                  <a:lnTo>
                    <a:pt x="1893369" y="182929"/>
                  </a:lnTo>
                  <a:cubicBezTo>
                    <a:pt x="1893369" y="197496"/>
                    <a:pt x="1887582" y="211466"/>
                    <a:pt x="1877282" y="221766"/>
                  </a:cubicBezTo>
                  <a:cubicBezTo>
                    <a:pt x="1866982" y="232066"/>
                    <a:pt x="1853012" y="237852"/>
                    <a:pt x="1838445" y="237852"/>
                  </a:cubicBezTo>
                  <a:lnTo>
                    <a:pt x="54923" y="237852"/>
                  </a:lnTo>
                  <a:cubicBezTo>
                    <a:pt x="40357" y="237852"/>
                    <a:pt x="26387" y="232066"/>
                    <a:pt x="16087" y="221766"/>
                  </a:cubicBezTo>
                  <a:cubicBezTo>
                    <a:pt x="5787" y="211466"/>
                    <a:pt x="0" y="197496"/>
                    <a:pt x="0" y="182929"/>
                  </a:cubicBezTo>
                  <a:lnTo>
                    <a:pt x="0" y="54923"/>
                  </a:lnTo>
                  <a:cubicBezTo>
                    <a:pt x="0" y="40357"/>
                    <a:pt x="5787" y="26387"/>
                    <a:pt x="16087" y="16087"/>
                  </a:cubicBezTo>
                  <a:cubicBezTo>
                    <a:pt x="26387" y="5787"/>
                    <a:pt x="40357" y="0"/>
                    <a:pt x="54923" y="0"/>
                  </a:cubicBezTo>
                  <a:close/>
                </a:path>
              </a:pathLst>
            </a:custGeom>
            <a:solidFill>
              <a:srgbClr val="0048CD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E7FD99B4-60AF-2899-46CC-D7DF0D73D9AC}"/>
                </a:ext>
              </a:extLst>
            </p:cNvPr>
            <p:cNvSpPr txBox="1"/>
            <p:nvPr/>
          </p:nvSpPr>
          <p:spPr>
            <a:xfrm>
              <a:off x="0" y="-47625"/>
              <a:ext cx="1893369" cy="285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A6700D4-2365-0DC7-AA81-376AA299279F}"/>
              </a:ext>
            </a:extLst>
          </p:cNvPr>
          <p:cNvSpPr txBox="1"/>
          <p:nvPr/>
        </p:nvSpPr>
        <p:spPr>
          <a:xfrm>
            <a:off x="-1885616" y="6165833"/>
            <a:ext cx="6057900" cy="527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758"/>
              </a:lnSpc>
            </a:pPr>
            <a:r>
              <a:rPr lang="en-US" sz="1800" dirty="0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3.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C93C3BE-1C31-979C-75D2-D99230C6242A}"/>
              </a:ext>
            </a:extLst>
          </p:cNvPr>
          <p:cNvSpPr txBox="1"/>
          <p:nvPr/>
        </p:nvSpPr>
        <p:spPr>
          <a:xfrm>
            <a:off x="2219999" y="6064877"/>
            <a:ext cx="67056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1900" b="1" dirty="0">
                <a:solidFill>
                  <a:srgbClr val="E9E9E9"/>
                </a:solidFill>
                <a:latin typeface="Open Sans Bold"/>
                <a:ea typeface="Open Sans Bold"/>
                <a:cs typeface="Open Sans Bold"/>
              </a:rPr>
              <a:t>Reporte de discrepancia, nos arroja las diferencias sobrantes y faltantes. Procedemos a enviamos la documentación de costumbre y esperamos los albaranes de ajuste.</a:t>
            </a:r>
          </a:p>
        </p:txBody>
      </p:sp>
      <p:sp>
        <p:nvSpPr>
          <p:cNvPr id="41" name="Freeform 4">
            <a:extLst>
              <a:ext uri="{FF2B5EF4-FFF2-40B4-BE49-F238E27FC236}">
                <a16:creationId xmlns:a16="http://schemas.microsoft.com/office/drawing/2014/main" id="{88F55982-BE77-744A-952F-975881DED5F1}"/>
              </a:ext>
            </a:extLst>
          </p:cNvPr>
          <p:cNvSpPr/>
          <p:nvPr/>
        </p:nvSpPr>
        <p:spPr>
          <a:xfrm>
            <a:off x="6634155" y="747654"/>
            <a:ext cx="3264538" cy="3092942"/>
          </a:xfrm>
          <a:custGeom>
            <a:avLst/>
            <a:gdLst/>
            <a:ahLst/>
            <a:cxnLst/>
            <a:rect l="l" t="t" r="r" b="b"/>
            <a:pathLst>
              <a:path w="3264538" h="3092942">
                <a:moveTo>
                  <a:pt x="0" y="0"/>
                </a:moveTo>
                <a:lnTo>
                  <a:pt x="3264538" y="0"/>
                </a:lnTo>
                <a:lnTo>
                  <a:pt x="3264538" y="3092942"/>
                </a:lnTo>
                <a:lnTo>
                  <a:pt x="0" y="3092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01" r="-2501"/>
            </a:stretch>
          </a:blipFill>
        </p:spPr>
        <p:txBody>
          <a:bodyPr/>
          <a:lstStyle/>
          <a:p>
            <a:endParaRPr lang="tr-TR"/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426EE3C0-FE95-0319-4D1B-9BB85721C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35" y="7578758"/>
            <a:ext cx="6705601" cy="4328341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BB4BD1CA-B421-EAAA-A64D-EA4641862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409" y="12141840"/>
            <a:ext cx="7188885" cy="4828541"/>
          </a:xfrm>
          <a:prstGeom prst="rect">
            <a:avLst/>
          </a:prstGeom>
        </p:spPr>
      </p:pic>
      <p:grpSp>
        <p:nvGrpSpPr>
          <p:cNvPr id="48" name="Group 4">
            <a:extLst>
              <a:ext uri="{FF2B5EF4-FFF2-40B4-BE49-F238E27FC236}">
                <a16:creationId xmlns:a16="http://schemas.microsoft.com/office/drawing/2014/main" id="{F5A849C6-8A25-B605-2C02-F2B62207C40A}"/>
              </a:ext>
            </a:extLst>
          </p:cNvPr>
          <p:cNvGrpSpPr/>
          <p:nvPr/>
        </p:nvGrpSpPr>
        <p:grpSpPr>
          <a:xfrm rot="-10800000">
            <a:off x="9130834" y="17259300"/>
            <a:ext cx="989918" cy="989918"/>
            <a:chOff x="0" y="0"/>
            <a:chExt cx="1319890" cy="1319890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422BBD9A-F1C5-75B0-DF17-42531A3F59DA}"/>
                </a:ext>
              </a:extLst>
            </p:cNvPr>
            <p:cNvSpPr/>
            <p:nvPr/>
          </p:nvSpPr>
          <p:spPr>
            <a:xfrm rot="-10800000">
              <a:off x="0" y="0"/>
              <a:ext cx="1319890" cy="1319890"/>
            </a:xfrm>
            <a:custGeom>
              <a:avLst/>
              <a:gdLst/>
              <a:ahLst/>
              <a:cxnLst/>
              <a:rect l="l" t="t" r="r" b="b"/>
              <a:pathLst>
                <a:path w="1319890" h="1319890">
                  <a:moveTo>
                    <a:pt x="0" y="0"/>
                  </a:moveTo>
                  <a:lnTo>
                    <a:pt x="1319890" y="0"/>
                  </a:lnTo>
                  <a:lnTo>
                    <a:pt x="1319890" y="1319890"/>
                  </a:lnTo>
                  <a:lnTo>
                    <a:pt x="0" y="1319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E7517285-2EA0-5017-6E61-112BA4744051}"/>
                </a:ext>
              </a:extLst>
            </p:cNvPr>
            <p:cNvSpPr/>
            <p:nvPr/>
          </p:nvSpPr>
          <p:spPr>
            <a:xfrm>
              <a:off x="322613" y="322613"/>
              <a:ext cx="674663" cy="674663"/>
            </a:xfrm>
            <a:custGeom>
              <a:avLst/>
              <a:gdLst/>
              <a:ahLst/>
              <a:cxnLst/>
              <a:rect l="l" t="t" r="r" b="b"/>
              <a:pathLst>
                <a:path w="674663" h="674663">
                  <a:moveTo>
                    <a:pt x="0" y="0"/>
                  </a:moveTo>
                  <a:lnTo>
                    <a:pt x="674664" y="0"/>
                  </a:lnTo>
                  <a:lnTo>
                    <a:pt x="674664" y="674664"/>
                  </a:lnTo>
                  <a:lnTo>
                    <a:pt x="0" y="674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8" name="Flecha: hacia la izquierda 57">
            <a:extLst>
              <a:ext uri="{FF2B5EF4-FFF2-40B4-BE49-F238E27FC236}">
                <a16:creationId xmlns:a16="http://schemas.microsoft.com/office/drawing/2014/main" id="{5E9306ED-1759-DC7E-6A6E-4A69158642DD}"/>
              </a:ext>
            </a:extLst>
          </p:cNvPr>
          <p:cNvSpPr/>
          <p:nvPr/>
        </p:nvSpPr>
        <p:spPr>
          <a:xfrm>
            <a:off x="7895603" y="9365258"/>
            <a:ext cx="1029996" cy="48427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A" sz="2000" dirty="0"/>
              <a:t>1</a:t>
            </a:r>
          </a:p>
        </p:txBody>
      </p:sp>
      <p:sp>
        <p:nvSpPr>
          <p:cNvPr id="59" name="Flecha: a la derecha 58">
            <a:extLst>
              <a:ext uri="{FF2B5EF4-FFF2-40B4-BE49-F238E27FC236}">
                <a16:creationId xmlns:a16="http://schemas.microsoft.com/office/drawing/2014/main" id="{80A97BAA-4ED6-554E-503B-E23AEDA71245}"/>
              </a:ext>
            </a:extLst>
          </p:cNvPr>
          <p:cNvSpPr/>
          <p:nvPr/>
        </p:nvSpPr>
        <p:spPr>
          <a:xfrm>
            <a:off x="1028700" y="13944600"/>
            <a:ext cx="1040714" cy="5028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A" sz="2000" dirty="0"/>
              <a:t>2</a:t>
            </a:r>
          </a:p>
        </p:txBody>
      </p:sp>
      <p:sp>
        <p:nvSpPr>
          <p:cNvPr id="61" name="Freeform 4">
            <a:extLst>
              <a:ext uri="{FF2B5EF4-FFF2-40B4-BE49-F238E27FC236}">
                <a16:creationId xmlns:a16="http://schemas.microsoft.com/office/drawing/2014/main" id="{C7B22310-C16D-110A-97AB-3720C81D8E90}"/>
              </a:ext>
            </a:extLst>
          </p:cNvPr>
          <p:cNvSpPr/>
          <p:nvPr/>
        </p:nvSpPr>
        <p:spPr>
          <a:xfrm>
            <a:off x="5927013" y="14996324"/>
            <a:ext cx="685800" cy="1524000"/>
          </a:xfrm>
          <a:custGeom>
            <a:avLst/>
            <a:gdLst/>
            <a:ahLst/>
            <a:cxnLst/>
            <a:rect l="l" t="t" r="r" b="b"/>
            <a:pathLst>
              <a:path w="2247881" h="1720035">
                <a:moveTo>
                  <a:pt x="46261" y="0"/>
                </a:moveTo>
                <a:lnTo>
                  <a:pt x="2201619" y="0"/>
                </a:lnTo>
                <a:cubicBezTo>
                  <a:pt x="2227169" y="0"/>
                  <a:pt x="2247881" y="20712"/>
                  <a:pt x="2247881" y="46261"/>
                </a:cubicBezTo>
                <a:lnTo>
                  <a:pt x="2247881" y="1673773"/>
                </a:lnTo>
                <a:cubicBezTo>
                  <a:pt x="2247881" y="1699323"/>
                  <a:pt x="2227169" y="1720035"/>
                  <a:pt x="2201619" y="1720035"/>
                </a:cubicBezTo>
                <a:lnTo>
                  <a:pt x="46261" y="1720035"/>
                </a:lnTo>
                <a:cubicBezTo>
                  <a:pt x="33992" y="1720035"/>
                  <a:pt x="22225" y="1715161"/>
                  <a:pt x="13550" y="1706485"/>
                </a:cubicBezTo>
                <a:cubicBezTo>
                  <a:pt x="4874" y="1697810"/>
                  <a:pt x="0" y="1686043"/>
                  <a:pt x="0" y="1673773"/>
                </a:cubicBezTo>
                <a:lnTo>
                  <a:pt x="0" y="46261"/>
                </a:lnTo>
                <a:cubicBezTo>
                  <a:pt x="0" y="20712"/>
                  <a:pt x="20712" y="0"/>
                  <a:pt x="462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3825" cap="rnd">
            <a:solidFill>
              <a:srgbClr val="FFBF01"/>
            </a:solidFill>
            <a:prstDash val="solid"/>
            <a:round/>
          </a:ln>
        </p:spPr>
        <p:txBody>
          <a:bodyPr/>
          <a:lstStyle/>
          <a:p>
            <a:endParaRPr lang="tr-TR"/>
          </a:p>
        </p:txBody>
      </p:sp>
      <p:sp>
        <p:nvSpPr>
          <p:cNvPr id="62" name="Freeform 4">
            <a:extLst>
              <a:ext uri="{FF2B5EF4-FFF2-40B4-BE49-F238E27FC236}">
                <a16:creationId xmlns:a16="http://schemas.microsoft.com/office/drawing/2014/main" id="{215B8809-593F-AC76-6313-56EB3668D2D6}"/>
              </a:ext>
            </a:extLst>
          </p:cNvPr>
          <p:cNvSpPr/>
          <p:nvPr/>
        </p:nvSpPr>
        <p:spPr>
          <a:xfrm>
            <a:off x="4448599" y="10152153"/>
            <a:ext cx="685800" cy="1354047"/>
          </a:xfrm>
          <a:custGeom>
            <a:avLst/>
            <a:gdLst/>
            <a:ahLst/>
            <a:cxnLst/>
            <a:rect l="l" t="t" r="r" b="b"/>
            <a:pathLst>
              <a:path w="2247881" h="1720035">
                <a:moveTo>
                  <a:pt x="46261" y="0"/>
                </a:moveTo>
                <a:lnTo>
                  <a:pt x="2201619" y="0"/>
                </a:lnTo>
                <a:cubicBezTo>
                  <a:pt x="2227169" y="0"/>
                  <a:pt x="2247881" y="20712"/>
                  <a:pt x="2247881" y="46261"/>
                </a:cubicBezTo>
                <a:lnTo>
                  <a:pt x="2247881" y="1673773"/>
                </a:lnTo>
                <a:cubicBezTo>
                  <a:pt x="2247881" y="1699323"/>
                  <a:pt x="2227169" y="1720035"/>
                  <a:pt x="2201619" y="1720035"/>
                </a:cubicBezTo>
                <a:lnTo>
                  <a:pt x="46261" y="1720035"/>
                </a:lnTo>
                <a:cubicBezTo>
                  <a:pt x="33992" y="1720035"/>
                  <a:pt x="22225" y="1715161"/>
                  <a:pt x="13550" y="1706485"/>
                </a:cubicBezTo>
                <a:cubicBezTo>
                  <a:pt x="4874" y="1697810"/>
                  <a:pt x="0" y="1686043"/>
                  <a:pt x="0" y="1673773"/>
                </a:cubicBezTo>
                <a:lnTo>
                  <a:pt x="0" y="46261"/>
                </a:lnTo>
                <a:cubicBezTo>
                  <a:pt x="0" y="20712"/>
                  <a:pt x="20712" y="0"/>
                  <a:pt x="4626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3825" cap="rnd">
            <a:solidFill>
              <a:srgbClr val="FFBF01"/>
            </a:solidFill>
            <a:prstDash val="solid"/>
            <a:round/>
          </a:ln>
        </p:spPr>
        <p:txBody>
          <a:bodyPr/>
          <a:lstStyle/>
          <a:p>
            <a:endParaRPr lang="tr-TR"/>
          </a:p>
        </p:txBody>
      </p:sp>
      <p:sp>
        <p:nvSpPr>
          <p:cNvPr id="70" name="AutoShape 9">
            <a:extLst>
              <a:ext uri="{FF2B5EF4-FFF2-40B4-BE49-F238E27FC236}">
                <a16:creationId xmlns:a16="http://schemas.microsoft.com/office/drawing/2014/main" id="{E51E0EA4-751E-123A-617D-739F72615ADF}"/>
              </a:ext>
            </a:extLst>
          </p:cNvPr>
          <p:cNvSpPr/>
          <p:nvPr/>
        </p:nvSpPr>
        <p:spPr>
          <a:xfrm>
            <a:off x="5134399" y="10744200"/>
            <a:ext cx="2494240" cy="0"/>
          </a:xfrm>
          <a:prstGeom prst="line">
            <a:avLst/>
          </a:prstGeom>
          <a:ln w="38100" cap="flat">
            <a:solidFill>
              <a:srgbClr val="0048CD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r-TR"/>
          </a:p>
        </p:txBody>
      </p:sp>
      <p:sp>
        <p:nvSpPr>
          <p:cNvPr id="71" name="AutoShape 9">
            <a:extLst>
              <a:ext uri="{FF2B5EF4-FFF2-40B4-BE49-F238E27FC236}">
                <a16:creationId xmlns:a16="http://schemas.microsoft.com/office/drawing/2014/main" id="{4A3F50F8-0FAF-328F-9C8F-7D678379000C}"/>
              </a:ext>
            </a:extLst>
          </p:cNvPr>
          <p:cNvSpPr/>
          <p:nvPr/>
        </p:nvSpPr>
        <p:spPr>
          <a:xfrm flipV="1">
            <a:off x="2878129" y="15508544"/>
            <a:ext cx="3182225" cy="1524000"/>
          </a:xfrm>
          <a:prstGeom prst="line">
            <a:avLst/>
          </a:prstGeom>
          <a:ln w="38100" cap="flat">
            <a:solidFill>
              <a:srgbClr val="0048CD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r-TR"/>
          </a:p>
        </p:txBody>
      </p:sp>
      <p:grpSp>
        <p:nvGrpSpPr>
          <p:cNvPr id="73" name="Group 10">
            <a:extLst>
              <a:ext uri="{FF2B5EF4-FFF2-40B4-BE49-F238E27FC236}">
                <a16:creationId xmlns:a16="http://schemas.microsoft.com/office/drawing/2014/main" id="{CD015275-B8B2-03D2-D28D-FE6D091D32A7}"/>
              </a:ext>
            </a:extLst>
          </p:cNvPr>
          <p:cNvGrpSpPr/>
          <p:nvPr/>
        </p:nvGrpSpPr>
        <p:grpSpPr>
          <a:xfrm>
            <a:off x="843795" y="17031684"/>
            <a:ext cx="2170115" cy="586783"/>
            <a:chOff x="0" y="0"/>
            <a:chExt cx="661419" cy="154544"/>
          </a:xfrm>
        </p:grpSpPr>
        <p:sp>
          <p:nvSpPr>
            <p:cNvPr id="74" name="Freeform 11">
              <a:extLst>
                <a:ext uri="{FF2B5EF4-FFF2-40B4-BE49-F238E27FC236}">
                  <a16:creationId xmlns:a16="http://schemas.microsoft.com/office/drawing/2014/main" id="{5C661D7A-06D3-B05C-559A-1D819EB248F7}"/>
                </a:ext>
              </a:extLst>
            </p:cNvPr>
            <p:cNvSpPr/>
            <p:nvPr/>
          </p:nvSpPr>
          <p:spPr>
            <a:xfrm>
              <a:off x="0" y="0"/>
              <a:ext cx="661419" cy="154544"/>
            </a:xfrm>
            <a:custGeom>
              <a:avLst/>
              <a:gdLst/>
              <a:ahLst/>
              <a:cxnLst/>
              <a:rect l="l" t="t" r="r" b="b"/>
              <a:pathLst>
                <a:path w="661419" h="154544">
                  <a:moveTo>
                    <a:pt x="77272" y="0"/>
                  </a:moveTo>
                  <a:lnTo>
                    <a:pt x="584147" y="0"/>
                  </a:lnTo>
                  <a:cubicBezTo>
                    <a:pt x="604641" y="0"/>
                    <a:pt x="624295" y="8141"/>
                    <a:pt x="638786" y="22632"/>
                  </a:cubicBezTo>
                  <a:cubicBezTo>
                    <a:pt x="653277" y="37124"/>
                    <a:pt x="661419" y="56778"/>
                    <a:pt x="661419" y="77272"/>
                  </a:cubicBezTo>
                  <a:lnTo>
                    <a:pt x="661419" y="77272"/>
                  </a:lnTo>
                  <a:cubicBezTo>
                    <a:pt x="661419" y="97766"/>
                    <a:pt x="653277" y="117420"/>
                    <a:pt x="638786" y="131911"/>
                  </a:cubicBezTo>
                  <a:cubicBezTo>
                    <a:pt x="624295" y="146403"/>
                    <a:pt x="604641" y="154544"/>
                    <a:pt x="584147" y="154544"/>
                  </a:cubicBezTo>
                  <a:lnTo>
                    <a:pt x="77272" y="154544"/>
                  </a:lnTo>
                  <a:cubicBezTo>
                    <a:pt x="56778" y="154544"/>
                    <a:pt x="37124" y="146403"/>
                    <a:pt x="22632" y="131911"/>
                  </a:cubicBezTo>
                  <a:cubicBezTo>
                    <a:pt x="8141" y="117420"/>
                    <a:pt x="0" y="97766"/>
                    <a:pt x="0" y="77272"/>
                  </a:cubicBezTo>
                  <a:lnTo>
                    <a:pt x="0" y="77272"/>
                  </a:lnTo>
                  <a:cubicBezTo>
                    <a:pt x="0" y="56778"/>
                    <a:pt x="8141" y="37124"/>
                    <a:pt x="22632" y="22632"/>
                  </a:cubicBezTo>
                  <a:cubicBezTo>
                    <a:pt x="37124" y="8141"/>
                    <a:pt x="56778" y="0"/>
                    <a:pt x="772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8CD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75" name="TextBox 12">
              <a:extLst>
                <a:ext uri="{FF2B5EF4-FFF2-40B4-BE49-F238E27FC236}">
                  <a16:creationId xmlns:a16="http://schemas.microsoft.com/office/drawing/2014/main" id="{AE58C21B-1BCB-4A68-C4CC-94677969EAF8}"/>
                </a:ext>
              </a:extLst>
            </p:cNvPr>
            <p:cNvSpPr txBox="1"/>
            <p:nvPr/>
          </p:nvSpPr>
          <p:spPr>
            <a:xfrm>
              <a:off x="0" y="-47625"/>
              <a:ext cx="661419" cy="202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6" name="Group 10">
            <a:extLst>
              <a:ext uri="{FF2B5EF4-FFF2-40B4-BE49-F238E27FC236}">
                <a16:creationId xmlns:a16="http://schemas.microsoft.com/office/drawing/2014/main" id="{A378EE9A-658F-8611-E93C-58F6B4042229}"/>
              </a:ext>
            </a:extLst>
          </p:cNvPr>
          <p:cNvGrpSpPr/>
          <p:nvPr/>
        </p:nvGrpSpPr>
        <p:grpSpPr>
          <a:xfrm>
            <a:off x="7628639" y="10479477"/>
            <a:ext cx="2096323" cy="586783"/>
            <a:chOff x="0" y="0"/>
            <a:chExt cx="661419" cy="154544"/>
          </a:xfrm>
        </p:grpSpPr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F4F6E93B-3A30-CD38-68F7-BBEB9F64C537}"/>
                </a:ext>
              </a:extLst>
            </p:cNvPr>
            <p:cNvSpPr/>
            <p:nvPr/>
          </p:nvSpPr>
          <p:spPr>
            <a:xfrm>
              <a:off x="0" y="0"/>
              <a:ext cx="661419" cy="154544"/>
            </a:xfrm>
            <a:custGeom>
              <a:avLst/>
              <a:gdLst/>
              <a:ahLst/>
              <a:cxnLst/>
              <a:rect l="l" t="t" r="r" b="b"/>
              <a:pathLst>
                <a:path w="661419" h="154544">
                  <a:moveTo>
                    <a:pt x="77272" y="0"/>
                  </a:moveTo>
                  <a:lnTo>
                    <a:pt x="584147" y="0"/>
                  </a:lnTo>
                  <a:cubicBezTo>
                    <a:pt x="604641" y="0"/>
                    <a:pt x="624295" y="8141"/>
                    <a:pt x="638786" y="22632"/>
                  </a:cubicBezTo>
                  <a:cubicBezTo>
                    <a:pt x="653277" y="37124"/>
                    <a:pt x="661419" y="56778"/>
                    <a:pt x="661419" y="77272"/>
                  </a:cubicBezTo>
                  <a:lnTo>
                    <a:pt x="661419" y="77272"/>
                  </a:lnTo>
                  <a:cubicBezTo>
                    <a:pt x="661419" y="97766"/>
                    <a:pt x="653277" y="117420"/>
                    <a:pt x="638786" y="131911"/>
                  </a:cubicBezTo>
                  <a:cubicBezTo>
                    <a:pt x="624295" y="146403"/>
                    <a:pt x="604641" y="154544"/>
                    <a:pt x="584147" y="154544"/>
                  </a:cubicBezTo>
                  <a:lnTo>
                    <a:pt x="77272" y="154544"/>
                  </a:lnTo>
                  <a:cubicBezTo>
                    <a:pt x="56778" y="154544"/>
                    <a:pt x="37124" y="146403"/>
                    <a:pt x="22632" y="131911"/>
                  </a:cubicBezTo>
                  <a:cubicBezTo>
                    <a:pt x="8141" y="117420"/>
                    <a:pt x="0" y="97766"/>
                    <a:pt x="0" y="77272"/>
                  </a:cubicBezTo>
                  <a:lnTo>
                    <a:pt x="0" y="77272"/>
                  </a:lnTo>
                  <a:cubicBezTo>
                    <a:pt x="0" y="56778"/>
                    <a:pt x="8141" y="37124"/>
                    <a:pt x="22632" y="22632"/>
                  </a:cubicBezTo>
                  <a:cubicBezTo>
                    <a:pt x="37124" y="8141"/>
                    <a:pt x="56778" y="0"/>
                    <a:pt x="772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8CD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78" name="TextBox 12">
              <a:extLst>
                <a:ext uri="{FF2B5EF4-FFF2-40B4-BE49-F238E27FC236}">
                  <a16:creationId xmlns:a16="http://schemas.microsoft.com/office/drawing/2014/main" id="{941D8528-6CBC-5622-97E5-FA72560F45DC}"/>
                </a:ext>
              </a:extLst>
            </p:cNvPr>
            <p:cNvSpPr txBox="1"/>
            <p:nvPr/>
          </p:nvSpPr>
          <p:spPr>
            <a:xfrm>
              <a:off x="0" y="-47625"/>
              <a:ext cx="661419" cy="202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1" name="CuadroTexto 80">
            <a:extLst>
              <a:ext uri="{FF2B5EF4-FFF2-40B4-BE49-F238E27FC236}">
                <a16:creationId xmlns:a16="http://schemas.microsoft.com/office/drawing/2014/main" id="{7F1A6FF6-1EBC-DBF9-D183-C841C2752B7D}"/>
              </a:ext>
            </a:extLst>
          </p:cNvPr>
          <p:cNvSpPr txBox="1"/>
          <p:nvPr/>
        </p:nvSpPr>
        <p:spPr>
          <a:xfrm>
            <a:off x="7933703" y="10554010"/>
            <a:ext cx="1584062" cy="392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1802" b="1" dirty="0">
                <a:solidFill>
                  <a:srgbClr val="0048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FALTANTE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CCB78782-E894-9A22-E165-00C8D6E483A9}"/>
              </a:ext>
            </a:extLst>
          </p:cNvPr>
          <p:cNvSpPr txBox="1"/>
          <p:nvPr/>
        </p:nvSpPr>
        <p:spPr>
          <a:xfrm>
            <a:off x="1181100" y="17126592"/>
            <a:ext cx="1713899" cy="393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522"/>
              </a:lnSpc>
            </a:pPr>
            <a:r>
              <a:rPr lang="es-PA" sz="1802" b="1" dirty="0">
                <a:solidFill>
                  <a:srgbClr val="0048CD"/>
                </a:solidFill>
                <a:latin typeface="Open Sans Bold"/>
                <a:ea typeface="Open Sans Bold"/>
                <a:cs typeface="Open Sans Bold"/>
              </a:rPr>
              <a:t>SOBRANTE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8C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DACB8-904B-268A-76A1-0BF17813F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D899F94-A16D-7B9B-152D-17052D5C7715}"/>
              </a:ext>
            </a:extLst>
          </p:cNvPr>
          <p:cNvGrpSpPr/>
          <p:nvPr/>
        </p:nvGrpSpPr>
        <p:grpSpPr>
          <a:xfrm>
            <a:off x="408207" y="280708"/>
            <a:ext cx="9513865" cy="17473551"/>
            <a:chOff x="0" y="0"/>
            <a:chExt cx="2242926" cy="411944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81FF8C1-5658-35BF-CF17-120BCE8E018F}"/>
                </a:ext>
              </a:extLst>
            </p:cNvPr>
            <p:cNvSpPr/>
            <p:nvPr/>
          </p:nvSpPr>
          <p:spPr>
            <a:xfrm>
              <a:off x="0" y="0"/>
              <a:ext cx="2242926" cy="4119449"/>
            </a:xfrm>
            <a:custGeom>
              <a:avLst/>
              <a:gdLst/>
              <a:ahLst/>
              <a:cxnLst/>
              <a:rect l="l" t="t" r="r" b="b"/>
              <a:pathLst>
                <a:path w="2242926" h="4119449">
                  <a:moveTo>
                    <a:pt x="2118466" y="4119448"/>
                  </a:moveTo>
                  <a:lnTo>
                    <a:pt x="124460" y="4119448"/>
                  </a:lnTo>
                  <a:cubicBezTo>
                    <a:pt x="55880" y="4119448"/>
                    <a:pt x="0" y="4063568"/>
                    <a:pt x="0" y="399498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18466" y="0"/>
                  </a:lnTo>
                  <a:cubicBezTo>
                    <a:pt x="2187046" y="0"/>
                    <a:pt x="2242926" y="55880"/>
                    <a:pt x="2242926" y="124460"/>
                  </a:cubicBezTo>
                  <a:lnTo>
                    <a:pt x="2242926" y="3994988"/>
                  </a:lnTo>
                  <a:cubicBezTo>
                    <a:pt x="2242926" y="4063568"/>
                    <a:pt x="2187046" y="4119449"/>
                    <a:pt x="2118466" y="411944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r-TR" dirty="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E2839CF6-4F94-920D-5110-AD759C40A23C}"/>
              </a:ext>
            </a:extLst>
          </p:cNvPr>
          <p:cNvSpPr txBox="1"/>
          <p:nvPr/>
        </p:nvSpPr>
        <p:spPr>
          <a:xfrm>
            <a:off x="781616" y="778353"/>
            <a:ext cx="7434230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1"/>
              </a:lnSpc>
            </a:pPr>
            <a:r>
              <a:rPr lang="en-US" sz="7200" b="1" dirty="0" err="1">
                <a:solidFill>
                  <a:srgbClr val="0048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Reporte</a:t>
            </a:r>
            <a:r>
              <a:rPr lang="en-US" sz="7200" b="1" dirty="0">
                <a:solidFill>
                  <a:srgbClr val="0048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7200" b="1" dirty="0" err="1">
                <a:solidFill>
                  <a:srgbClr val="0048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Discrepancia</a:t>
            </a:r>
            <a:r>
              <a:rPr lang="en-US" sz="7200" b="1" dirty="0">
                <a:solidFill>
                  <a:srgbClr val="0048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endParaRPr lang="en-US" sz="7029" b="1" spc="-70" dirty="0">
              <a:solidFill>
                <a:srgbClr val="0048CD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48" name="Group 4">
            <a:extLst>
              <a:ext uri="{FF2B5EF4-FFF2-40B4-BE49-F238E27FC236}">
                <a16:creationId xmlns:a16="http://schemas.microsoft.com/office/drawing/2014/main" id="{CB1CDF35-4BD1-ECFA-4055-C480D564ECA9}"/>
              </a:ext>
            </a:extLst>
          </p:cNvPr>
          <p:cNvGrpSpPr/>
          <p:nvPr/>
        </p:nvGrpSpPr>
        <p:grpSpPr>
          <a:xfrm rot="-10800000">
            <a:off x="9130834" y="17259300"/>
            <a:ext cx="989918" cy="989918"/>
            <a:chOff x="0" y="0"/>
            <a:chExt cx="1319890" cy="1319890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9834442E-A6A0-4ACC-0350-0B6F443EDA53}"/>
                </a:ext>
              </a:extLst>
            </p:cNvPr>
            <p:cNvSpPr/>
            <p:nvPr/>
          </p:nvSpPr>
          <p:spPr>
            <a:xfrm rot="-10800000">
              <a:off x="0" y="0"/>
              <a:ext cx="1319890" cy="1319890"/>
            </a:xfrm>
            <a:custGeom>
              <a:avLst/>
              <a:gdLst/>
              <a:ahLst/>
              <a:cxnLst/>
              <a:rect l="l" t="t" r="r" b="b"/>
              <a:pathLst>
                <a:path w="1319890" h="1319890">
                  <a:moveTo>
                    <a:pt x="0" y="0"/>
                  </a:moveTo>
                  <a:lnTo>
                    <a:pt x="1319890" y="0"/>
                  </a:lnTo>
                  <a:lnTo>
                    <a:pt x="1319890" y="1319890"/>
                  </a:lnTo>
                  <a:lnTo>
                    <a:pt x="0" y="1319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FA7A32B3-7DA0-0C4D-7E11-83CD97F639F6}"/>
                </a:ext>
              </a:extLst>
            </p:cNvPr>
            <p:cNvSpPr/>
            <p:nvPr/>
          </p:nvSpPr>
          <p:spPr>
            <a:xfrm>
              <a:off x="322613" y="322613"/>
              <a:ext cx="674663" cy="674663"/>
            </a:xfrm>
            <a:custGeom>
              <a:avLst/>
              <a:gdLst/>
              <a:ahLst/>
              <a:cxnLst/>
              <a:rect l="l" t="t" r="r" b="b"/>
              <a:pathLst>
                <a:path w="674663" h="674663">
                  <a:moveTo>
                    <a:pt x="0" y="0"/>
                  </a:moveTo>
                  <a:lnTo>
                    <a:pt x="674664" y="0"/>
                  </a:lnTo>
                  <a:lnTo>
                    <a:pt x="674664" y="674664"/>
                  </a:lnTo>
                  <a:lnTo>
                    <a:pt x="0" y="674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70C5D89E-C69F-830F-ECF3-2A3ACB9C86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0824" y="5760340"/>
            <a:ext cx="6705600" cy="3298194"/>
          </a:xfrm>
          <a:prstGeom prst="rect">
            <a:avLst/>
          </a:prstGeom>
        </p:spPr>
      </p:pic>
      <p:grpSp>
        <p:nvGrpSpPr>
          <p:cNvPr id="6" name="Group 10">
            <a:extLst>
              <a:ext uri="{FF2B5EF4-FFF2-40B4-BE49-F238E27FC236}">
                <a16:creationId xmlns:a16="http://schemas.microsoft.com/office/drawing/2014/main" id="{53FDBE43-F2C4-1679-5DAD-5D1C51DA3021}"/>
              </a:ext>
            </a:extLst>
          </p:cNvPr>
          <p:cNvGrpSpPr/>
          <p:nvPr/>
        </p:nvGrpSpPr>
        <p:grpSpPr>
          <a:xfrm>
            <a:off x="6774039" y="7082256"/>
            <a:ext cx="2511324" cy="586783"/>
            <a:chOff x="0" y="0"/>
            <a:chExt cx="661419" cy="154544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42999302-8694-7A7B-1627-9CCF5CDC55AF}"/>
                </a:ext>
              </a:extLst>
            </p:cNvPr>
            <p:cNvSpPr/>
            <p:nvPr/>
          </p:nvSpPr>
          <p:spPr>
            <a:xfrm>
              <a:off x="0" y="0"/>
              <a:ext cx="661419" cy="154544"/>
            </a:xfrm>
            <a:custGeom>
              <a:avLst/>
              <a:gdLst/>
              <a:ahLst/>
              <a:cxnLst/>
              <a:rect l="l" t="t" r="r" b="b"/>
              <a:pathLst>
                <a:path w="661419" h="154544">
                  <a:moveTo>
                    <a:pt x="77272" y="0"/>
                  </a:moveTo>
                  <a:lnTo>
                    <a:pt x="584147" y="0"/>
                  </a:lnTo>
                  <a:cubicBezTo>
                    <a:pt x="604641" y="0"/>
                    <a:pt x="624295" y="8141"/>
                    <a:pt x="638786" y="22632"/>
                  </a:cubicBezTo>
                  <a:cubicBezTo>
                    <a:pt x="653277" y="37124"/>
                    <a:pt x="661419" y="56778"/>
                    <a:pt x="661419" y="77272"/>
                  </a:cubicBezTo>
                  <a:lnTo>
                    <a:pt x="661419" y="77272"/>
                  </a:lnTo>
                  <a:cubicBezTo>
                    <a:pt x="661419" y="97766"/>
                    <a:pt x="653277" y="117420"/>
                    <a:pt x="638786" y="131911"/>
                  </a:cubicBezTo>
                  <a:cubicBezTo>
                    <a:pt x="624295" y="146403"/>
                    <a:pt x="604641" y="154544"/>
                    <a:pt x="584147" y="154544"/>
                  </a:cubicBezTo>
                  <a:lnTo>
                    <a:pt x="77272" y="154544"/>
                  </a:lnTo>
                  <a:cubicBezTo>
                    <a:pt x="56778" y="154544"/>
                    <a:pt x="37124" y="146403"/>
                    <a:pt x="22632" y="131911"/>
                  </a:cubicBezTo>
                  <a:cubicBezTo>
                    <a:pt x="8141" y="117420"/>
                    <a:pt x="0" y="97766"/>
                    <a:pt x="0" y="77272"/>
                  </a:cubicBezTo>
                  <a:lnTo>
                    <a:pt x="0" y="77272"/>
                  </a:lnTo>
                  <a:cubicBezTo>
                    <a:pt x="0" y="56778"/>
                    <a:pt x="8141" y="37124"/>
                    <a:pt x="22632" y="22632"/>
                  </a:cubicBezTo>
                  <a:cubicBezTo>
                    <a:pt x="37124" y="8141"/>
                    <a:pt x="56778" y="0"/>
                    <a:pt x="772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0048CD"/>
              </a:solidFill>
              <a:prstDash val="solid"/>
              <a:rou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EB49D2D3-1307-01EE-5968-6955C87E4605}"/>
                </a:ext>
              </a:extLst>
            </p:cNvPr>
            <p:cNvSpPr txBox="1"/>
            <p:nvPr/>
          </p:nvSpPr>
          <p:spPr>
            <a:xfrm>
              <a:off x="0" y="-47625"/>
              <a:ext cx="661419" cy="202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9" name="AutoShape 9">
            <a:extLst>
              <a:ext uri="{FF2B5EF4-FFF2-40B4-BE49-F238E27FC236}">
                <a16:creationId xmlns:a16="http://schemas.microsoft.com/office/drawing/2014/main" id="{38C3445A-A7A9-0892-AAF8-BB4B487615D6}"/>
              </a:ext>
            </a:extLst>
          </p:cNvPr>
          <p:cNvSpPr/>
          <p:nvPr/>
        </p:nvSpPr>
        <p:spPr>
          <a:xfrm flipH="1" flipV="1">
            <a:off x="6325847" y="6732844"/>
            <a:ext cx="499023" cy="469443"/>
          </a:xfrm>
          <a:prstGeom prst="line">
            <a:avLst/>
          </a:prstGeom>
          <a:ln w="38100" cap="flat">
            <a:solidFill>
              <a:srgbClr val="0048CD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tr-TR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3FFA17B-A310-A81E-7483-B58AF9913779}"/>
              </a:ext>
            </a:extLst>
          </p:cNvPr>
          <p:cNvSpPr txBox="1"/>
          <p:nvPr/>
        </p:nvSpPr>
        <p:spPr>
          <a:xfrm>
            <a:off x="6776471" y="7213197"/>
            <a:ext cx="5491230" cy="392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1802" b="1" dirty="0">
                <a:solidFill>
                  <a:srgbClr val="0048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Discrepancy report 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6BCEBB2C-5279-3E69-BD43-920C95E79A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8707" y="10376607"/>
            <a:ext cx="6507717" cy="4821853"/>
          </a:xfrm>
          <a:prstGeom prst="rect">
            <a:avLst/>
          </a:prstGeom>
        </p:spPr>
      </p:pic>
      <p:sp>
        <p:nvSpPr>
          <p:cNvPr id="51" name="Freeform 6">
            <a:extLst>
              <a:ext uri="{FF2B5EF4-FFF2-40B4-BE49-F238E27FC236}">
                <a16:creationId xmlns:a16="http://schemas.microsoft.com/office/drawing/2014/main" id="{0A4AEAC9-F9CD-5BE2-760A-A80820D3EE77}"/>
              </a:ext>
            </a:extLst>
          </p:cNvPr>
          <p:cNvSpPr/>
          <p:nvPr/>
        </p:nvSpPr>
        <p:spPr>
          <a:xfrm>
            <a:off x="8435062" y="375102"/>
            <a:ext cx="1267793" cy="1814172"/>
          </a:xfrm>
          <a:custGeom>
            <a:avLst/>
            <a:gdLst/>
            <a:ahLst/>
            <a:cxnLst/>
            <a:rect l="l" t="t" r="r" b="b"/>
            <a:pathLst>
              <a:path w="1267793" h="1719041">
                <a:moveTo>
                  <a:pt x="0" y="0"/>
                </a:moveTo>
                <a:lnTo>
                  <a:pt x="1267792" y="0"/>
                </a:lnTo>
                <a:lnTo>
                  <a:pt x="1267792" y="1719041"/>
                </a:lnTo>
                <a:lnTo>
                  <a:pt x="0" y="17190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 dirty="0"/>
          </a:p>
        </p:txBody>
      </p:sp>
      <p:sp>
        <p:nvSpPr>
          <p:cNvPr id="55" name="Cerrar llave 54">
            <a:extLst>
              <a:ext uri="{FF2B5EF4-FFF2-40B4-BE49-F238E27FC236}">
                <a16:creationId xmlns:a16="http://schemas.microsoft.com/office/drawing/2014/main" id="{970E1A5D-CFB3-5744-5B3D-CA2AB81E5C30}"/>
              </a:ext>
            </a:extLst>
          </p:cNvPr>
          <p:cNvSpPr/>
          <p:nvPr/>
        </p:nvSpPr>
        <p:spPr>
          <a:xfrm>
            <a:off x="5753100" y="11547740"/>
            <a:ext cx="152400" cy="304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56" name="Cerrar llave 55">
            <a:extLst>
              <a:ext uri="{FF2B5EF4-FFF2-40B4-BE49-F238E27FC236}">
                <a16:creationId xmlns:a16="http://schemas.microsoft.com/office/drawing/2014/main" id="{25840A61-7EA0-7160-57C4-382E876398D4}"/>
              </a:ext>
            </a:extLst>
          </p:cNvPr>
          <p:cNvSpPr/>
          <p:nvPr/>
        </p:nvSpPr>
        <p:spPr>
          <a:xfrm>
            <a:off x="5772481" y="11852540"/>
            <a:ext cx="381000" cy="1905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65" name="Flecha: a la derecha con muesca 64">
            <a:extLst>
              <a:ext uri="{FF2B5EF4-FFF2-40B4-BE49-F238E27FC236}">
                <a16:creationId xmlns:a16="http://schemas.microsoft.com/office/drawing/2014/main" id="{2A1A2B62-9CDA-CF09-F3A8-71C20128148E}"/>
              </a:ext>
            </a:extLst>
          </p:cNvPr>
          <p:cNvSpPr/>
          <p:nvPr/>
        </p:nvSpPr>
        <p:spPr>
          <a:xfrm>
            <a:off x="6346257" y="11446051"/>
            <a:ext cx="1295400" cy="53340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A" dirty="0"/>
              <a:t>sobrante</a:t>
            </a:r>
          </a:p>
        </p:txBody>
      </p:sp>
      <p:sp>
        <p:nvSpPr>
          <p:cNvPr id="69" name="Flecha: a la derecha con muesca 68">
            <a:extLst>
              <a:ext uri="{FF2B5EF4-FFF2-40B4-BE49-F238E27FC236}">
                <a16:creationId xmlns:a16="http://schemas.microsoft.com/office/drawing/2014/main" id="{021D2240-D724-81F9-3168-DB87A39BB442}"/>
              </a:ext>
            </a:extLst>
          </p:cNvPr>
          <p:cNvSpPr/>
          <p:nvPr/>
        </p:nvSpPr>
        <p:spPr>
          <a:xfrm>
            <a:off x="6427008" y="12544491"/>
            <a:ext cx="1295400" cy="53340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A" dirty="0"/>
              <a:t>faltante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4D451D29-F2FE-279B-7A81-468B1F2EAC16}"/>
              </a:ext>
            </a:extLst>
          </p:cNvPr>
          <p:cNvSpPr txBox="1"/>
          <p:nvPr/>
        </p:nvSpPr>
        <p:spPr>
          <a:xfrm>
            <a:off x="1471232" y="2955467"/>
            <a:ext cx="7434230" cy="1858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99"/>
              </a:lnSpc>
            </a:pPr>
            <a:r>
              <a:rPr lang="es-PA" sz="2499" dirty="0">
                <a:solidFill>
                  <a:srgbClr val="0048CD"/>
                </a:solidFill>
                <a:latin typeface="Open Sans"/>
                <a:ea typeface="Open Sans"/>
                <a:cs typeface="Open Sans"/>
              </a:rPr>
              <a:t>3. Reporte de discrepancia, nos arroja las diferencias sobrantes y faltantes. Procedemos a enviamos por correo la documentación de costumbre y esperamos los albaranes de ajuste.</a:t>
            </a:r>
          </a:p>
        </p:txBody>
      </p:sp>
      <p:sp>
        <p:nvSpPr>
          <p:cNvPr id="80" name="Freeform 10">
            <a:extLst>
              <a:ext uri="{FF2B5EF4-FFF2-40B4-BE49-F238E27FC236}">
                <a16:creationId xmlns:a16="http://schemas.microsoft.com/office/drawing/2014/main" id="{ECB518A0-C12E-9172-6DBC-241FFD175C18}"/>
              </a:ext>
            </a:extLst>
          </p:cNvPr>
          <p:cNvSpPr/>
          <p:nvPr/>
        </p:nvSpPr>
        <p:spPr>
          <a:xfrm>
            <a:off x="554479" y="15369401"/>
            <a:ext cx="1833505" cy="2178234"/>
          </a:xfrm>
          <a:custGeom>
            <a:avLst/>
            <a:gdLst/>
            <a:ahLst/>
            <a:cxnLst/>
            <a:rect l="l" t="t" r="r" b="b"/>
            <a:pathLst>
              <a:path w="1898486" h="2016984">
                <a:moveTo>
                  <a:pt x="0" y="0"/>
                </a:moveTo>
                <a:lnTo>
                  <a:pt x="1898486" y="0"/>
                </a:lnTo>
                <a:lnTo>
                  <a:pt x="1898486" y="2016984"/>
                </a:lnTo>
                <a:lnTo>
                  <a:pt x="0" y="20169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33440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024" r="-108024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564699" y="5111725"/>
            <a:ext cx="2918873" cy="2714552"/>
          </a:xfrm>
          <a:custGeom>
            <a:avLst/>
            <a:gdLst/>
            <a:ahLst/>
            <a:cxnLst/>
            <a:rect l="l" t="t" r="r" b="b"/>
            <a:pathLst>
              <a:path w="2918873" h="2714552">
                <a:moveTo>
                  <a:pt x="0" y="0"/>
                </a:moveTo>
                <a:lnTo>
                  <a:pt x="2918873" y="0"/>
                </a:lnTo>
                <a:lnTo>
                  <a:pt x="2918873" y="2714552"/>
                </a:lnTo>
                <a:lnTo>
                  <a:pt x="0" y="2714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6339427" y="12658842"/>
            <a:ext cx="2918873" cy="2714552"/>
          </a:xfrm>
          <a:custGeom>
            <a:avLst/>
            <a:gdLst/>
            <a:ahLst/>
            <a:cxnLst/>
            <a:rect l="l" t="t" r="r" b="b"/>
            <a:pathLst>
              <a:path w="2918873" h="2714552">
                <a:moveTo>
                  <a:pt x="0" y="0"/>
                </a:moveTo>
                <a:lnTo>
                  <a:pt x="2918873" y="0"/>
                </a:lnTo>
                <a:lnTo>
                  <a:pt x="2918873" y="2714551"/>
                </a:lnTo>
                <a:lnTo>
                  <a:pt x="0" y="27145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TextBox 5"/>
          <p:cNvSpPr txBox="1"/>
          <p:nvPr/>
        </p:nvSpPr>
        <p:spPr>
          <a:xfrm>
            <a:off x="642435" y="13789185"/>
            <a:ext cx="5430397" cy="40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48CD"/>
                </a:solidFill>
                <a:latin typeface="Muli"/>
                <a:ea typeface="Muli"/>
                <a:cs typeface="Muli"/>
                <a:sym typeface="Muli"/>
              </a:rPr>
              <a:t>WAREHOUSE</a:t>
            </a:r>
          </a:p>
        </p:txBody>
      </p:sp>
      <p:grpSp>
        <p:nvGrpSpPr>
          <p:cNvPr id="6" name="Group 6"/>
          <p:cNvGrpSpPr/>
          <p:nvPr/>
        </p:nvGrpSpPr>
        <p:grpSpPr>
          <a:xfrm rot="-5400000">
            <a:off x="2714625" y="6055815"/>
            <a:ext cx="8270349" cy="5353050"/>
            <a:chOff x="0" y="0"/>
            <a:chExt cx="1923367" cy="12449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23367" cy="1244915"/>
            </a:xfrm>
            <a:custGeom>
              <a:avLst/>
              <a:gdLst/>
              <a:ahLst/>
              <a:cxnLst/>
              <a:rect l="l" t="t" r="r" b="b"/>
              <a:pathLst>
                <a:path w="1923367" h="1244915">
                  <a:moveTo>
                    <a:pt x="1798906" y="1244915"/>
                  </a:moveTo>
                  <a:lnTo>
                    <a:pt x="124460" y="1244915"/>
                  </a:lnTo>
                  <a:cubicBezTo>
                    <a:pt x="55880" y="1244915"/>
                    <a:pt x="0" y="1189035"/>
                    <a:pt x="0" y="112045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98907" y="0"/>
                  </a:lnTo>
                  <a:cubicBezTo>
                    <a:pt x="1867487" y="0"/>
                    <a:pt x="1923367" y="55880"/>
                    <a:pt x="1923367" y="124460"/>
                  </a:cubicBezTo>
                  <a:lnTo>
                    <a:pt x="1923367" y="1120455"/>
                  </a:lnTo>
                  <a:cubicBezTo>
                    <a:pt x="1923367" y="1189035"/>
                    <a:pt x="1867487" y="1244915"/>
                    <a:pt x="1798907" y="1244915"/>
                  </a:cubicBezTo>
                  <a:close/>
                </a:path>
              </a:pathLst>
            </a:custGeom>
            <a:solidFill>
              <a:srgbClr val="75C7FB"/>
            </a:solid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51221" y="2464542"/>
            <a:ext cx="7584558" cy="1515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8"/>
              </a:lnSpc>
            </a:pPr>
            <a:r>
              <a:rPr lang="en-US" sz="10644" b="1" spc="-106">
                <a:solidFill>
                  <a:srgbClr val="0048CD"/>
                </a:solidFill>
                <a:latin typeface="Muli Bold"/>
                <a:ea typeface="Muli Bold"/>
                <a:cs typeface="Muli Bold"/>
                <a:sym typeface="Muli Bold"/>
              </a:rPr>
              <a:t>Thank you!</a:t>
            </a:r>
          </a:p>
        </p:txBody>
      </p:sp>
      <p:sp>
        <p:nvSpPr>
          <p:cNvPr id="9" name="Freeform 9"/>
          <p:cNvSpPr/>
          <p:nvPr/>
        </p:nvSpPr>
        <p:spPr>
          <a:xfrm>
            <a:off x="642435" y="6039024"/>
            <a:ext cx="9002129" cy="7651810"/>
          </a:xfrm>
          <a:custGeom>
            <a:avLst/>
            <a:gdLst/>
            <a:ahLst/>
            <a:cxnLst/>
            <a:rect l="l" t="t" r="r" b="b"/>
            <a:pathLst>
              <a:path w="9002129" h="7651810">
                <a:moveTo>
                  <a:pt x="0" y="0"/>
                </a:moveTo>
                <a:lnTo>
                  <a:pt x="9002130" y="0"/>
                </a:lnTo>
                <a:lnTo>
                  <a:pt x="9002130" y="7651810"/>
                </a:lnTo>
                <a:lnTo>
                  <a:pt x="0" y="76518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189</Words>
  <Application>Microsoft Office PowerPoint</Application>
  <PresentationFormat>Personalizado</PresentationFormat>
  <Paragraphs>32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5" baseType="lpstr">
      <vt:lpstr>Muli</vt:lpstr>
      <vt:lpstr>Calibri</vt:lpstr>
      <vt:lpstr>Open Sans Bold</vt:lpstr>
      <vt:lpstr>Open Sans</vt:lpstr>
      <vt:lpstr>Garet</vt:lpstr>
      <vt:lpstr>Lato</vt:lpstr>
      <vt:lpstr>Wingdings</vt:lpstr>
      <vt:lpstr>Muli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Stockroom Process Manual - Iraq</dc:title>
  <dc:creator>Yanelka Gomez</dc:creator>
  <cp:lastModifiedBy>Yanelka Gomez</cp:lastModifiedBy>
  <cp:revision>10</cp:revision>
  <dcterms:created xsi:type="dcterms:W3CDTF">2006-08-16T00:00:00Z</dcterms:created>
  <dcterms:modified xsi:type="dcterms:W3CDTF">2025-03-31T04:31:47Z</dcterms:modified>
  <dc:identifier>DAGVC3jznu0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2025-03-26T13:15:20Z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d01c1098-86ab-43e2-b9ee-aea19fa36f77</vt:lpwstr>
  </property>
  <property fmtid="{D5CDD505-2E9C-101B-9397-08002B2CF9AE}" pid="8" name="MSIP_Label_c66f6488-6f7b-4340-b880-828136ff7811_ContentBits">
    <vt:lpwstr>0</vt:lpwstr>
  </property>
</Properties>
</file>